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731520" y="1645920"/>
            <a:ext cx="1005840" cy="10058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 }</a:t>
            </a:r>
          </a:p>
        </p:txBody>
      </p:sp>
      <p:sp>
        <p:nvSpPr>
          <p:cNvPr id="3" name="TextBox 2"/>
          <p:cNvSpPr txBox="1"/>
          <p:nvPr/>
        </p:nvSpPr>
        <p:spPr>
          <a:xfrm>
            <a:off x="731520" y="2926080"/>
            <a:ext cx="10698480" cy="3200400"/>
          </a:xfrm>
          <a:prstGeom prst="rect">
            <a:avLst/>
          </a:prstGeom>
          <a:noFill/>
        </p:spPr>
        <p:txBody>
          <a:bodyPr wrap="square" lIns="0" tIns="0" rIns="0" bIns="0">
            <a:spAutoFit/>
          </a:bodyPr>
          <a:lstStyle/>
          <a:p>
            <a:pPr>
              <a:defRPr sz="3600" b="1">
                <a:solidFill>
                  <a:srgbClr val="F8FAFC"/>
                </a:solidFill>
                <a:latin typeface="Arial"/>
              </a:defRPr>
            </a:pPr>
            <a:r>
              <a:t>FULL-STACK ARCHITECTURE</a:t>
            </a:r>
          </a:p>
          <a:p>
            <a:pPr>
              <a:spcBef>
                <a:spcPts val="1200"/>
              </a:spcBef>
              <a:defRPr sz="2000">
                <a:solidFill>
                  <a:srgbClr val="22C55E"/>
                </a:solidFill>
                <a:latin typeface="Arial"/>
              </a:defRPr>
            </a:pPr>
            <a:r>
              <a:t>Model · View · Controller — with a Modern Relational Database</a:t>
            </a:r>
          </a:p>
          <a:p>
            <a:pPr>
              <a:spcBef>
                <a:spcPts val="2800"/>
              </a:spcBef>
              <a:defRPr sz="1300">
                <a:solidFill>
                  <a:srgbClr val="94A3B8"/>
                </a:solidFill>
                <a:latin typeface="Arial"/>
              </a:defRPr>
            </a:pPr>
            <a:r>
              <a:t>A hands-on case study built around the Bangkok 50 Districts Tracker project (Next.js 14 · React · Drizzle ORM · PostgreSQL)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Learning Objectives</a:t>
            </a:r>
          </a:p>
          <a:p>
            <a:pPr>
              <a:spcBef>
                <a:spcPts val="400"/>
              </a:spcBef>
              <a:defRPr sz="1300">
                <a:solidFill>
                  <a:srgbClr val="94A3B8"/>
                </a:solidFill>
                <a:latin typeface="Arial"/>
              </a:defRPr>
            </a:pPr>
            <a:r>
              <a:t>By the end of this lecture, you will be able to:</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2</a:t>
            </a:r>
          </a:p>
        </p:txBody>
      </p:sp>
      <p:sp>
        <p:nvSpPr>
          <p:cNvPr id="5" name="Rounded Rectangle 4"/>
          <p:cNvSpPr/>
          <p:nvPr/>
        </p:nvSpPr>
        <p:spPr>
          <a:xfrm>
            <a:off x="731520" y="1645920"/>
            <a:ext cx="10698480" cy="960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1847088"/>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7" name="TextBox 6"/>
          <p:cNvSpPr txBox="1"/>
          <p:nvPr/>
        </p:nvSpPr>
        <p:spPr>
          <a:xfrm>
            <a:off x="1828800" y="1901952"/>
            <a:ext cx="9326880" cy="548640"/>
          </a:xfrm>
          <a:prstGeom prst="rect">
            <a:avLst/>
          </a:prstGeom>
          <a:noFill/>
        </p:spPr>
        <p:txBody>
          <a:bodyPr wrap="square" lIns="0" tIns="0" rIns="0" bIns="0">
            <a:spAutoFit/>
          </a:bodyPr>
          <a:lstStyle/>
          <a:p>
            <a:pPr>
              <a:defRPr sz="1500" b="1">
                <a:solidFill>
                  <a:srgbClr val="F8FAFC"/>
                </a:solidFill>
                <a:latin typeface="Arial"/>
              </a:defRPr>
            </a:pPr>
            <a:r>
              <a:t>Explain the Model–View–Controller pattern and why it separates concerns in modern web apps</a:t>
            </a:r>
          </a:p>
        </p:txBody>
      </p:sp>
      <p:sp>
        <p:nvSpPr>
          <p:cNvPr id="8" name="Rounded Rectangle 7"/>
          <p:cNvSpPr/>
          <p:nvPr/>
        </p:nvSpPr>
        <p:spPr>
          <a:xfrm>
            <a:off x="731520" y="2788920"/>
            <a:ext cx="10698480" cy="960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990088"/>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0" name="TextBox 9"/>
          <p:cNvSpPr txBox="1"/>
          <p:nvPr/>
        </p:nvSpPr>
        <p:spPr>
          <a:xfrm>
            <a:off x="1828800" y="3044952"/>
            <a:ext cx="9326880" cy="548640"/>
          </a:xfrm>
          <a:prstGeom prst="rect">
            <a:avLst/>
          </a:prstGeom>
          <a:noFill/>
        </p:spPr>
        <p:txBody>
          <a:bodyPr wrap="square" lIns="0" tIns="0" rIns="0" bIns="0">
            <a:spAutoFit/>
          </a:bodyPr>
          <a:lstStyle/>
          <a:p>
            <a:pPr>
              <a:defRPr sz="1500" b="1">
                <a:solidFill>
                  <a:srgbClr val="F8FAFC"/>
                </a:solidFill>
                <a:latin typeface="Arial"/>
              </a:defRPr>
            </a:pPr>
            <a:r>
              <a:t>Trace a request end-to-end through client events, Next.js route handlers, Drizzle ORM, and React views</a:t>
            </a:r>
          </a:p>
        </p:txBody>
      </p:sp>
      <p:sp>
        <p:nvSpPr>
          <p:cNvPr id="11" name="Rounded Rectangle 10"/>
          <p:cNvSpPr/>
          <p:nvPr/>
        </p:nvSpPr>
        <p:spPr>
          <a:xfrm>
            <a:off x="731520" y="3931920"/>
            <a:ext cx="10698480" cy="960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4133088"/>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13" name="TextBox 12"/>
          <p:cNvSpPr txBox="1"/>
          <p:nvPr/>
        </p:nvSpPr>
        <p:spPr>
          <a:xfrm>
            <a:off x="1828800" y="4187952"/>
            <a:ext cx="9326880" cy="548640"/>
          </a:xfrm>
          <a:prstGeom prst="rect">
            <a:avLst/>
          </a:prstGeom>
          <a:noFill/>
        </p:spPr>
        <p:txBody>
          <a:bodyPr wrap="square" lIns="0" tIns="0" rIns="0" bIns="0">
            <a:spAutoFit/>
          </a:bodyPr>
          <a:lstStyle/>
          <a:p>
            <a:pPr>
              <a:defRPr sz="1500" b="1">
                <a:solidFill>
                  <a:srgbClr val="F8FAFC"/>
                </a:solidFill>
                <a:latin typeface="Arial"/>
              </a:defRPr>
            </a:pPr>
            <a:r>
              <a:t>Read and write TypeScript code that queries and mutates a relational database from a dedicated model layer</a:t>
            </a:r>
          </a:p>
        </p:txBody>
      </p:sp>
      <p:sp>
        <p:nvSpPr>
          <p:cNvPr id="14" name="Rounded Rectangle 13"/>
          <p:cNvSpPr/>
          <p:nvPr/>
        </p:nvSpPr>
        <p:spPr>
          <a:xfrm>
            <a:off x="731520" y="5074920"/>
            <a:ext cx="10698480" cy="960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5276088"/>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sp>
        <p:nvSpPr>
          <p:cNvPr id="16" name="TextBox 15"/>
          <p:cNvSpPr txBox="1"/>
          <p:nvPr/>
        </p:nvSpPr>
        <p:spPr>
          <a:xfrm>
            <a:off x="1828800" y="5330952"/>
            <a:ext cx="9326880" cy="548640"/>
          </a:xfrm>
          <a:prstGeom prst="rect">
            <a:avLst/>
          </a:prstGeom>
          <a:noFill/>
        </p:spPr>
        <p:txBody>
          <a:bodyPr wrap="square" lIns="0" tIns="0" rIns="0" bIns="0">
            <a:spAutoFit/>
          </a:bodyPr>
          <a:lstStyle/>
          <a:p>
            <a:pPr>
              <a:defRPr sz="1500" b="1">
                <a:solidFill>
                  <a:srgbClr val="F8FAFC"/>
                </a:solidFill>
                <a:latin typeface="Arial"/>
              </a:defRPr>
            </a:pPr>
            <a:r>
              <a:t>Run, extend, and debug a production-ready full-stack GIS tracker in VS Code with Bun &amp; Next.js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What Is MVC?</a:t>
            </a:r>
          </a:p>
          <a:p>
            <a:pPr>
              <a:spcBef>
                <a:spcPts val="400"/>
              </a:spcBef>
              <a:defRPr sz="1300">
                <a:solidFill>
                  <a:srgbClr val="94A3B8"/>
                </a:solidFill>
                <a:latin typeface="Arial"/>
              </a:defRPr>
            </a:pPr>
            <a:r>
              <a:t>A design pattern that splits an application into three interconnected parts, each with one job.</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3</a:t>
            </a:r>
          </a:p>
        </p:txBody>
      </p:sp>
      <p:sp>
        <p:nvSpPr>
          <p:cNvPr id="5" name="Oval 4"/>
          <p:cNvSpPr/>
          <p:nvPr/>
        </p:nvSpPr>
        <p:spPr>
          <a:xfrm>
            <a:off x="1645920" y="2194560"/>
            <a:ext cx="1645920" cy="1645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MODEL</a:t>
            </a:r>
            <a:br/>
            <a:r>
              <a:t>Data &amp; rules</a:t>
            </a:r>
          </a:p>
        </p:txBody>
      </p:sp>
      <p:sp>
        <p:nvSpPr>
          <p:cNvPr id="6" name="Oval 5"/>
          <p:cNvSpPr/>
          <p:nvPr/>
        </p:nvSpPr>
        <p:spPr>
          <a:xfrm>
            <a:off x="5266944" y="2194560"/>
            <a:ext cx="1645920" cy="164592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CONTROLLER</a:t>
            </a:r>
            <a:br/>
            <a:r>
              <a:t>Traffic cop</a:t>
            </a:r>
          </a:p>
        </p:txBody>
      </p:sp>
      <p:sp>
        <p:nvSpPr>
          <p:cNvPr id="7" name="Oval 6"/>
          <p:cNvSpPr/>
          <p:nvPr/>
        </p:nvSpPr>
        <p:spPr>
          <a:xfrm>
            <a:off x="8897112" y="2194560"/>
            <a:ext cx="1645920" cy="164592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VIEW</a:t>
            </a:r>
            <a:br/>
            <a:r>
              <a:t>What you see</a:t>
            </a:r>
          </a:p>
        </p:txBody>
      </p:sp>
      <p:sp>
        <p:nvSpPr>
          <p:cNvPr id="8" name="TextBox 7"/>
          <p:cNvSpPr txBox="1"/>
          <p:nvPr/>
        </p:nvSpPr>
        <p:spPr>
          <a:xfrm>
            <a:off x="3383280" y="2743200"/>
            <a:ext cx="1828800" cy="457200"/>
          </a:xfrm>
          <a:prstGeom prst="rect">
            <a:avLst/>
          </a:prstGeom>
          <a:noFill/>
        </p:spPr>
        <p:txBody>
          <a:bodyPr wrap="none">
            <a:spAutoFit/>
          </a:bodyPr>
          <a:lstStyle/>
          <a:p>
            <a:pPr algn="ctr">
              <a:defRPr sz="1100" i="1">
                <a:solidFill>
                  <a:srgbClr val="94A3B8"/>
                </a:solidFill>
              </a:defRPr>
            </a:pPr>
            <a:r>
              <a:t>query / mutate</a:t>
            </a:r>
          </a:p>
        </p:txBody>
      </p:sp>
      <p:sp>
        <p:nvSpPr>
          <p:cNvPr id="9" name="TextBox 8"/>
          <p:cNvSpPr txBox="1"/>
          <p:nvPr/>
        </p:nvSpPr>
        <p:spPr>
          <a:xfrm>
            <a:off x="6949440" y="2743200"/>
            <a:ext cx="1828800" cy="457200"/>
          </a:xfrm>
          <a:prstGeom prst="rect">
            <a:avLst/>
          </a:prstGeom>
          <a:noFill/>
        </p:spPr>
        <p:txBody>
          <a:bodyPr wrap="none">
            <a:spAutoFit/>
          </a:bodyPr>
          <a:lstStyle/>
          <a:p>
            <a:pPr algn="ctr">
              <a:defRPr sz="1100" i="1">
                <a:solidFill>
                  <a:srgbClr val="94A3B8"/>
                </a:solidFill>
              </a:defRPr>
            </a:pPr>
            <a:r>
              <a:t>request / JSON</a:t>
            </a:r>
          </a:p>
        </p:txBody>
      </p:sp>
      <p:sp>
        <p:nvSpPr>
          <p:cNvPr id="10" name="Rounded Rectangle 9"/>
          <p:cNvSpPr/>
          <p:nvPr/>
        </p:nvSpPr>
        <p:spPr>
          <a:xfrm>
            <a:off x="731520" y="4480560"/>
            <a:ext cx="10698480" cy="146304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63440"/>
            <a:ext cx="9966960" cy="1097280"/>
          </a:xfrm>
          <a:prstGeom prst="rect">
            <a:avLst/>
          </a:prstGeom>
          <a:noFill/>
        </p:spPr>
        <p:txBody>
          <a:bodyPr wrap="square" lIns="0" tIns="0" rIns="0" bIns="0">
            <a:spAutoFit/>
          </a:bodyPr>
          <a:lstStyle/>
          <a:p>
            <a:pPr>
              <a:defRPr sz="1500" b="1">
                <a:solidFill>
                  <a:srgbClr val="22C55E"/>
                </a:solidFill>
              </a:defRPr>
            </a:pPr>
            <a:r>
              <a:t>Key Idea: Strict Separation of Responsibilities</a:t>
            </a:r>
          </a:p>
          <a:p>
            <a:pPr>
              <a:spcBef>
                <a:spcPts val="600"/>
              </a:spcBef>
              <a:defRPr sz="1300">
                <a:solidFill>
                  <a:srgbClr val="94A3B8"/>
                </a:solidFill>
              </a:defRPr>
            </a:pPr>
            <a:r>
              <a:t>The Controller never writes SQL directly or exposes internal schema details, and the View never executes database queries or stores secret credentials. Each layer can be tested, refactored, and scaled independently without breaking the others.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Why Separate Concerns?</a:t>
            </a:r>
          </a:p>
          <a:p>
            <a:pPr>
              <a:spcBef>
                <a:spcPts val="400"/>
              </a:spcBef>
              <a:defRPr sz="1300">
                <a:solidFill>
                  <a:srgbClr val="94A3B8"/>
                </a:solidFill>
                <a:latin typeface="Arial"/>
              </a:defRPr>
            </a:pPr>
            <a:r>
              <a:t>Key software engineering benefits of a cleanly decoupled full-stack architecture.</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4</a:t>
            </a:r>
          </a:p>
        </p:txBody>
      </p:sp>
      <p:sp>
        <p:nvSpPr>
          <p:cNvPr id="5" name="Rounded Rectangle 4"/>
          <p:cNvSpPr/>
          <p:nvPr/>
        </p:nvSpPr>
        <p:spPr>
          <a:xfrm>
            <a:off x="731520" y="1645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1560" y="1965960"/>
            <a:ext cx="594360" cy="594360"/>
          </a:xfrm>
          <a:prstGeom prst="roundRect">
            <a:avLst/>
          </a:prstGeom>
          <a:solidFill>
            <a:srgbClr val="182640"/>
          </a:solidFill>
          <a:ln>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22C55E"/>
                </a:solidFill>
              </a:defRPr>
            </a:pPr>
            <a:r>
              <a:t>↻</a:t>
            </a:r>
          </a:p>
        </p:txBody>
      </p:sp>
      <p:sp>
        <p:nvSpPr>
          <p:cNvPr id="7" name="TextBox 6"/>
          <p:cNvSpPr txBox="1"/>
          <p:nvPr/>
        </p:nvSpPr>
        <p:spPr>
          <a:xfrm>
            <a:off x="1828800" y="1920240"/>
            <a:ext cx="3840480" cy="1463040"/>
          </a:xfrm>
          <a:prstGeom prst="rect">
            <a:avLst/>
          </a:prstGeom>
          <a:noFill/>
        </p:spPr>
        <p:txBody>
          <a:bodyPr wrap="square" lIns="0" tIns="0" rIns="0" bIns="0">
            <a:spAutoFit/>
          </a:bodyPr>
          <a:lstStyle/>
          <a:p>
            <a:pPr>
              <a:defRPr sz="1600" b="1">
                <a:solidFill>
                  <a:srgbClr val="F8FAFC"/>
                </a:solidFill>
              </a:defRPr>
            </a:pPr>
            <a:r>
              <a:t>Maintainability</a:t>
            </a:r>
          </a:p>
          <a:p>
            <a:pPr>
              <a:spcBef>
                <a:spcPts val="600"/>
              </a:spcBef>
              <a:defRPr sz="1200">
                <a:solidFill>
                  <a:srgbClr val="94A3B8"/>
                </a:solidFill>
              </a:defRPr>
            </a:pPr>
            <a:r>
              <a:t>Fix bugs, optimize queries, or redesign UI components without cascading unintended side-effects across other layers.</a:t>
            </a:r>
          </a:p>
        </p:txBody>
      </p:sp>
      <p:sp>
        <p:nvSpPr>
          <p:cNvPr id="8" name="Rounded Rectangle 7"/>
          <p:cNvSpPr/>
          <p:nvPr/>
        </p:nvSpPr>
        <p:spPr>
          <a:xfrm>
            <a:off x="6217920" y="1645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37960" y="1965960"/>
            <a:ext cx="594360" cy="594360"/>
          </a:xfrm>
          <a:prstGeom prst="roundRect">
            <a:avLst/>
          </a:prstGeom>
          <a:solidFill>
            <a:srgbClr val="182640"/>
          </a:solidFill>
          <a:ln>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22C55E"/>
                </a:solidFill>
              </a:defRPr>
            </a:pPr>
            <a:r>
              <a:t>⚙</a:t>
            </a:r>
          </a:p>
        </p:txBody>
      </p:sp>
      <p:sp>
        <p:nvSpPr>
          <p:cNvPr id="10" name="TextBox 9"/>
          <p:cNvSpPr txBox="1"/>
          <p:nvPr/>
        </p:nvSpPr>
        <p:spPr>
          <a:xfrm>
            <a:off x="7315200" y="1920240"/>
            <a:ext cx="3840480" cy="1463040"/>
          </a:xfrm>
          <a:prstGeom prst="rect">
            <a:avLst/>
          </a:prstGeom>
          <a:noFill/>
        </p:spPr>
        <p:txBody>
          <a:bodyPr wrap="square" lIns="0" tIns="0" rIns="0" bIns="0">
            <a:spAutoFit/>
          </a:bodyPr>
          <a:lstStyle/>
          <a:p>
            <a:pPr>
              <a:defRPr sz="1600" b="1">
                <a:solidFill>
                  <a:srgbClr val="F8FAFC"/>
                </a:solidFill>
              </a:defRPr>
            </a:pPr>
            <a:r>
              <a:t>Reusability &amp; Multi-Storage</a:t>
            </a:r>
          </a:p>
          <a:p>
            <a:pPr>
              <a:spcBef>
                <a:spcPts val="600"/>
              </a:spcBef>
              <a:defRPr sz="1200">
                <a:solidFill>
                  <a:srgbClr val="94A3B8"/>
                </a:solidFill>
              </a:defRPr>
            </a:pPr>
            <a:r>
              <a:t>The same Model/Storage layer can power the public interactive map, admin dashboard, export CLI, and API consumers.</a:t>
            </a:r>
          </a:p>
        </p:txBody>
      </p:sp>
      <p:sp>
        <p:nvSpPr>
          <p:cNvPr id="11" name="Rounded Rectangle 10"/>
          <p:cNvSpPr/>
          <p:nvPr/>
        </p:nvSpPr>
        <p:spPr>
          <a:xfrm>
            <a:off x="731520" y="3931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 y="4251960"/>
            <a:ext cx="594360" cy="594360"/>
          </a:xfrm>
          <a:prstGeom prst="roundRect">
            <a:avLst/>
          </a:prstGeom>
          <a:solidFill>
            <a:srgbClr val="182640"/>
          </a:solidFill>
          <a:ln>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22C55E"/>
                </a:solidFill>
              </a:defRPr>
            </a:pPr>
            <a:r>
              <a:t>⌘</a:t>
            </a:r>
          </a:p>
        </p:txBody>
      </p:sp>
      <p:sp>
        <p:nvSpPr>
          <p:cNvPr id="13" name="TextBox 12"/>
          <p:cNvSpPr txBox="1"/>
          <p:nvPr/>
        </p:nvSpPr>
        <p:spPr>
          <a:xfrm>
            <a:off x="1828800" y="4206240"/>
            <a:ext cx="3840480" cy="1463040"/>
          </a:xfrm>
          <a:prstGeom prst="rect">
            <a:avLst/>
          </a:prstGeom>
          <a:noFill/>
        </p:spPr>
        <p:txBody>
          <a:bodyPr wrap="square" lIns="0" tIns="0" rIns="0" bIns="0">
            <a:spAutoFit/>
          </a:bodyPr>
          <a:lstStyle/>
          <a:p>
            <a:pPr>
              <a:defRPr sz="1600" b="1">
                <a:solidFill>
                  <a:srgbClr val="F8FAFC"/>
                </a:solidFill>
              </a:defRPr>
            </a:pPr>
            <a:r>
              <a:t>Team Workflow</a:t>
            </a:r>
          </a:p>
          <a:p>
            <a:pPr>
              <a:spcBef>
                <a:spcPts val="600"/>
              </a:spcBef>
              <a:defRPr sz="1200">
                <a:solidFill>
                  <a:srgbClr val="94A3B8"/>
                </a:solidFill>
              </a:defRPr>
            </a:pPr>
            <a:r>
              <a:t>Frontend engineers work on vector SVG animations while backend engineers optimize relational schemas and SQL queries in parallel.</a:t>
            </a:r>
          </a:p>
        </p:txBody>
      </p:sp>
      <p:sp>
        <p:nvSpPr>
          <p:cNvPr id="14" name="Rounded Rectangle 13"/>
          <p:cNvSpPr/>
          <p:nvPr/>
        </p:nvSpPr>
        <p:spPr>
          <a:xfrm>
            <a:off x="6217920" y="3931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37960" y="4251960"/>
            <a:ext cx="594360" cy="594360"/>
          </a:xfrm>
          <a:prstGeom prst="roundRect">
            <a:avLst/>
          </a:prstGeom>
          <a:solidFill>
            <a:srgbClr val="182640"/>
          </a:solidFill>
          <a:ln>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22C55E"/>
                </a:solidFill>
              </a:defRPr>
            </a:pPr>
            <a:r>
              <a:t>✓</a:t>
            </a:r>
          </a:p>
        </p:txBody>
      </p:sp>
      <p:sp>
        <p:nvSpPr>
          <p:cNvPr id="16" name="TextBox 15"/>
          <p:cNvSpPr txBox="1"/>
          <p:nvPr/>
        </p:nvSpPr>
        <p:spPr>
          <a:xfrm>
            <a:off x="7315200" y="4206240"/>
            <a:ext cx="3840480" cy="1463040"/>
          </a:xfrm>
          <a:prstGeom prst="rect">
            <a:avLst/>
          </a:prstGeom>
          <a:noFill/>
        </p:spPr>
        <p:txBody>
          <a:bodyPr wrap="square" lIns="0" tIns="0" rIns="0" bIns="0">
            <a:spAutoFit/>
          </a:bodyPr>
          <a:lstStyle/>
          <a:p>
            <a:pPr>
              <a:defRPr sz="1600" b="1">
                <a:solidFill>
                  <a:srgbClr val="F8FAFC"/>
                </a:solidFill>
              </a:defRPr>
            </a:pPr>
            <a:r>
              <a:t>Testability &amp; Type Safety</a:t>
            </a:r>
          </a:p>
          <a:p>
            <a:pPr>
              <a:spcBef>
                <a:spcPts val="600"/>
              </a:spcBef>
              <a:defRPr sz="1200">
                <a:solidFill>
                  <a:srgbClr val="94A3B8"/>
                </a:solidFill>
              </a:defRPr>
            </a:pPr>
            <a:r>
              <a:t>Strict TypeScript contracts (FullDistrict, Place, TrackerState) guarantee type safety and effortless isolated unit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The Three Layers, Defined</a:t>
            </a:r>
          </a:p>
          <a:p>
            <a:pPr>
              <a:spcBef>
                <a:spcPts val="400"/>
              </a:spcBef>
              <a:defRPr sz="1300">
                <a:solidFill>
                  <a:srgbClr val="94A3B8"/>
                </a:solidFill>
                <a:latin typeface="Arial"/>
              </a:defRPr>
            </a:pPr>
            <a:r>
              <a:t>Clear division of roles across data, user interface, and application control flow.</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5</a:t>
            </a:r>
          </a:p>
        </p:txBody>
      </p:sp>
      <p:sp>
        <p:nvSpPr>
          <p:cNvPr id="5" name="Rounded Rectangle 4"/>
          <p:cNvSpPr/>
          <p:nvPr/>
        </p:nvSpPr>
        <p:spPr>
          <a:xfrm>
            <a:off x="731520" y="1645920"/>
            <a:ext cx="3383280" cy="4389120"/>
          </a:xfrm>
          <a:prstGeom prst="roundRect">
            <a:avLst/>
          </a:prstGeom>
          <a:solidFill>
            <a:srgbClr val="121C3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834640" cy="3840480"/>
          </a:xfrm>
          <a:prstGeom prst="rect">
            <a:avLst/>
          </a:prstGeom>
          <a:noFill/>
        </p:spPr>
        <p:txBody>
          <a:bodyPr wrap="square" lIns="0" tIns="0" rIns="0" bIns="0">
            <a:spAutoFit/>
          </a:bodyPr>
          <a:lstStyle/>
          <a:p>
            <a:pPr>
              <a:defRPr sz="1800" b="1">
                <a:solidFill>
                  <a:srgbClr val="10B981"/>
                </a:solidFill>
              </a:defRPr>
            </a:pPr>
            <a:r>
              <a:t>MODEL</a:t>
            </a:r>
          </a:p>
          <a:p>
            <a:pPr>
              <a:spcBef>
                <a:spcPts val="400"/>
              </a:spcBef>
              <a:defRPr sz="1300" i="1">
                <a:solidFill>
                  <a:srgbClr val="F8FAFC"/>
                </a:solidFill>
              </a:defRPr>
            </a:pPr>
            <a:r>
              <a:t>Owns the data.</a:t>
            </a:r>
          </a:p>
          <a:p>
            <a:pPr>
              <a:spcBef>
                <a:spcPts val="1000"/>
              </a:spcBef>
              <a:defRPr sz="1200">
                <a:solidFill>
                  <a:srgbClr val="94A3B8"/>
                </a:solidFill>
              </a:defRPr>
            </a:pPr>
            <a:r>
              <a:t>Talks to PostgreSQL via Drizzle ORM. Contains database schemas, table relations, cascading deletes, and data validation. Knows nothing about HTTP headers or JSX rendering.</a:t>
            </a:r>
          </a:p>
          <a:p>
            <a:pPr>
              <a:spcBef>
                <a:spcPts val="1600"/>
              </a:spcBef>
              <a:defRPr sz="1000">
                <a:solidFill>
                  <a:srgbClr val="A7F3D0"/>
                </a:solidFill>
              </a:defRPr>
            </a:pPr>
            <a:r>
              <a:t>In this project:</a:t>
            </a:r>
            <a:br/>
            <a:r>
              <a:t>lib/db/schema.ts</a:t>
            </a:r>
            <a:br/>
            <a:r>
              <a:t>lib/storage.ts</a:t>
            </a:r>
            <a:br/>
            <a:r>
              <a:t>lib/districts-data.ts</a:t>
            </a:r>
          </a:p>
        </p:txBody>
      </p:sp>
      <p:sp>
        <p:nvSpPr>
          <p:cNvPr id="7" name="Rounded Rectangle 6"/>
          <p:cNvSpPr/>
          <p:nvPr/>
        </p:nvSpPr>
        <p:spPr>
          <a:xfrm>
            <a:off x="4389120" y="1645920"/>
            <a:ext cx="338328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920240"/>
            <a:ext cx="2834640" cy="3840480"/>
          </a:xfrm>
          <a:prstGeom prst="rect">
            <a:avLst/>
          </a:prstGeom>
          <a:noFill/>
        </p:spPr>
        <p:txBody>
          <a:bodyPr wrap="square" lIns="0" tIns="0" rIns="0" bIns="0">
            <a:spAutoFit/>
          </a:bodyPr>
          <a:lstStyle/>
          <a:p>
            <a:pPr>
              <a:defRPr sz="1800" b="1">
                <a:solidFill>
                  <a:srgbClr val="06B6D4"/>
                </a:solidFill>
              </a:defRPr>
            </a:pPr>
            <a:r>
              <a:t>VIEW</a:t>
            </a:r>
          </a:p>
          <a:p>
            <a:pPr>
              <a:spcBef>
                <a:spcPts val="400"/>
              </a:spcBef>
              <a:defRPr sz="1300" i="1">
                <a:solidFill>
                  <a:srgbClr val="F8FAFC"/>
                </a:solidFill>
              </a:defRPr>
            </a:pPr>
            <a:r>
              <a:t>Owns the display.</a:t>
            </a:r>
          </a:p>
          <a:p>
            <a:pPr>
              <a:spcBef>
                <a:spcPts val="1000"/>
              </a:spcBef>
              <a:defRPr sz="1200">
                <a:solidFill>
                  <a:srgbClr val="94A3B8"/>
                </a:solidFill>
              </a:defRPr>
            </a:pPr>
            <a:r>
              <a:t>Renders the interactive SVG vector map, district cards, sliding bottom sheet, and analytics modals. Contains zero database queries and minimum business logic.</a:t>
            </a:r>
          </a:p>
          <a:p>
            <a:pPr>
              <a:spcBef>
                <a:spcPts val="1600"/>
              </a:spcBef>
              <a:defRPr sz="1000">
                <a:solidFill>
                  <a:srgbClr val="93C5FD"/>
                </a:solidFill>
              </a:defRPr>
            </a:pPr>
            <a:r>
              <a:t>In this project:</a:t>
            </a:r>
            <a:br/>
            <a:r>
              <a:t>app/page.tsx</a:t>
            </a:r>
            <a:br/>
            <a:r>
              <a:t>components/map/BangkokMap.tsx</a:t>
            </a:r>
            <a:br/>
            <a:r>
              <a:t>components/DistrictBottomSheet.tsx</a:t>
            </a:r>
          </a:p>
        </p:txBody>
      </p:sp>
      <p:sp>
        <p:nvSpPr>
          <p:cNvPr id="9" name="Rounded Rectangle 8"/>
          <p:cNvSpPr/>
          <p:nvPr/>
        </p:nvSpPr>
        <p:spPr>
          <a:xfrm>
            <a:off x="8046720" y="1645920"/>
            <a:ext cx="338328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20240"/>
            <a:ext cx="2834640" cy="3840480"/>
          </a:xfrm>
          <a:prstGeom prst="rect">
            <a:avLst/>
          </a:prstGeom>
          <a:noFill/>
        </p:spPr>
        <p:txBody>
          <a:bodyPr wrap="square" lIns="0" tIns="0" rIns="0" bIns="0">
            <a:spAutoFit/>
          </a:bodyPr>
          <a:lstStyle/>
          <a:p>
            <a:pPr>
              <a:defRPr sz="1800" b="1">
                <a:solidFill>
                  <a:srgbClr val="6366F1"/>
                </a:solidFill>
              </a:defRPr>
            </a:pPr>
            <a:r>
              <a:t>CONTROLLER</a:t>
            </a:r>
          </a:p>
          <a:p>
            <a:pPr>
              <a:spcBef>
                <a:spcPts val="400"/>
              </a:spcBef>
              <a:defRPr sz="1300" i="1">
                <a:solidFill>
                  <a:srgbClr val="F8FAFC"/>
                </a:solidFill>
              </a:defRPr>
            </a:pPr>
            <a:r>
              <a:t>Owns the flow.</a:t>
            </a:r>
          </a:p>
          <a:p>
            <a:pPr>
              <a:spcBef>
                <a:spcPts val="1000"/>
              </a:spcBef>
              <a:defRPr sz="1200">
                <a:solidFill>
                  <a:srgbClr val="94A3B8"/>
                </a:solidFill>
              </a:defRPr>
            </a:pPr>
            <a:r>
              <a:t>Receives incoming HTTP requests, verifies HttpOnly JWT admin sessions, validates payloads, delegates to the Model, and invalidates server cache tags.</a:t>
            </a:r>
          </a:p>
          <a:p>
            <a:pPr>
              <a:spcBef>
                <a:spcPts val="1600"/>
              </a:spcBef>
              <a:defRPr sz="1000">
                <a:solidFill>
                  <a:srgbClr val="A5B4FC"/>
                </a:solidFill>
              </a:defRPr>
            </a:pPr>
            <a:r>
              <a:t>In this project:</a:t>
            </a:r>
            <a:br/>
            <a:r>
              <a:t>app/api/districts/route.ts</a:t>
            </a:r>
            <a:br/>
            <a:r>
              <a:t>app/api/auth/login/route.ts</a:t>
            </a:r>
            <a:br/>
            <a:r>
              <a:t>app/api/export/route.ts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Case Study: The Bangkok 50 Districts Tracker App</a:t>
            </a:r>
          </a:p>
          <a:p>
            <a:pPr>
              <a:spcBef>
                <a:spcPts val="400"/>
              </a:spcBef>
              <a:defRPr sz="1300">
                <a:solidFill>
                  <a:srgbClr val="94A3B8"/>
                </a:solidFill>
                <a:latin typeface="Arial"/>
              </a:defRPr>
            </a:pPr>
            <a:r>
              <a:t>A full-stack GIS web application to explore, track, and log visits across all 50 official districts of Bangkok.</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6</a:t>
            </a:r>
          </a:p>
        </p:txBody>
      </p:sp>
      <p:sp>
        <p:nvSpPr>
          <p:cNvPr id="5" name="Rounded Rectangle 4"/>
          <p:cNvSpPr/>
          <p:nvPr/>
        </p:nvSpPr>
        <p:spPr>
          <a:xfrm>
            <a:off x="731520" y="1828800"/>
            <a:ext cx="2468880" cy="29260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00200" y="2148840"/>
            <a:ext cx="731520" cy="73152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&lt;/&gt;</a:t>
            </a:r>
          </a:p>
        </p:txBody>
      </p:sp>
      <p:sp>
        <p:nvSpPr>
          <p:cNvPr id="7" name="TextBox 6"/>
          <p:cNvSpPr txBox="1"/>
          <p:nvPr/>
        </p:nvSpPr>
        <p:spPr>
          <a:xfrm>
            <a:off x="914400" y="3017520"/>
            <a:ext cx="2103120" cy="1554480"/>
          </a:xfrm>
          <a:prstGeom prst="rect">
            <a:avLst/>
          </a:prstGeom>
          <a:noFill/>
        </p:spPr>
        <p:txBody>
          <a:bodyPr wrap="square" lIns="0" tIns="0" rIns="0" bIns="0">
            <a:spAutoFit/>
          </a:bodyPr>
          <a:lstStyle/>
          <a:p>
            <a:pPr algn="ctr">
              <a:defRPr sz="1500" b="1">
                <a:solidFill>
                  <a:srgbClr val="F8FAFC"/>
                </a:solidFill>
              </a:defRPr>
            </a:pPr>
            <a:r>
              <a:t>Next.js 14</a:t>
            </a:r>
          </a:p>
          <a:p>
            <a:pPr algn="ctr">
              <a:spcBef>
                <a:spcPts val="200"/>
              </a:spcBef>
              <a:defRPr sz="1100" b="1">
                <a:solidFill>
                  <a:srgbClr val="3B82F6"/>
                </a:solidFill>
              </a:defRPr>
            </a:pPr>
            <a:r>
              <a:t>CONTROLLER</a:t>
            </a:r>
          </a:p>
          <a:p>
            <a:pPr algn="ctr">
              <a:spcBef>
                <a:spcPts val="800"/>
              </a:spcBef>
              <a:defRPr sz="1000">
                <a:solidFill>
                  <a:srgbClr val="94A3B8"/>
                </a:solidFill>
              </a:defRPr>
            </a:pPr>
            <a:r>
              <a:t>App Router API route handlers, serverless endpoints &amp; cache tagging</a:t>
            </a:r>
          </a:p>
        </p:txBody>
      </p:sp>
      <p:sp>
        <p:nvSpPr>
          <p:cNvPr id="8" name="Rounded Rectangle 7"/>
          <p:cNvSpPr/>
          <p:nvPr/>
        </p:nvSpPr>
        <p:spPr>
          <a:xfrm>
            <a:off x="3474720" y="1828800"/>
            <a:ext cx="2468880" cy="29260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343400" y="2148840"/>
            <a:ext cx="731520" cy="73152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&lt;/&gt;</a:t>
            </a:r>
          </a:p>
        </p:txBody>
      </p:sp>
      <p:sp>
        <p:nvSpPr>
          <p:cNvPr id="10" name="TextBox 9"/>
          <p:cNvSpPr txBox="1"/>
          <p:nvPr/>
        </p:nvSpPr>
        <p:spPr>
          <a:xfrm>
            <a:off x="3657600" y="3017520"/>
            <a:ext cx="2103120" cy="1554480"/>
          </a:xfrm>
          <a:prstGeom prst="rect">
            <a:avLst/>
          </a:prstGeom>
          <a:noFill/>
        </p:spPr>
        <p:txBody>
          <a:bodyPr wrap="square" lIns="0" tIns="0" rIns="0" bIns="0">
            <a:spAutoFit/>
          </a:bodyPr>
          <a:lstStyle/>
          <a:p>
            <a:pPr algn="ctr">
              <a:defRPr sz="1500" b="1">
                <a:solidFill>
                  <a:srgbClr val="F8FAFC"/>
                </a:solidFill>
              </a:defRPr>
            </a:pPr>
            <a:r>
              <a:t>React + Tailwind</a:t>
            </a:r>
          </a:p>
          <a:p>
            <a:pPr algn="ctr">
              <a:spcBef>
                <a:spcPts val="200"/>
              </a:spcBef>
              <a:defRPr sz="1100" b="1">
                <a:solidFill>
                  <a:srgbClr val="06B6D4"/>
                </a:solidFill>
              </a:defRPr>
            </a:pPr>
            <a:r>
              <a:t>VIEW</a:t>
            </a:r>
          </a:p>
          <a:p>
            <a:pPr algn="ctr">
              <a:spcBef>
                <a:spcPts val="800"/>
              </a:spcBef>
              <a:defRPr sz="1000">
                <a:solidFill>
                  <a:srgbClr val="94A3B8"/>
                </a:solidFill>
              </a:defRPr>
            </a:pPr>
            <a:r>
              <a:t>Interactive vector SVG map, sliding bottom sheet &amp; responsive UI</a:t>
            </a:r>
          </a:p>
        </p:txBody>
      </p:sp>
      <p:sp>
        <p:nvSpPr>
          <p:cNvPr id="11" name="Rounded Rectangle 10"/>
          <p:cNvSpPr/>
          <p:nvPr/>
        </p:nvSpPr>
        <p:spPr>
          <a:xfrm>
            <a:off x="6217920" y="1828800"/>
            <a:ext cx="2468880" cy="29260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086600" y="2148840"/>
            <a:ext cx="731520" cy="7315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&lt;/&gt;</a:t>
            </a:r>
          </a:p>
        </p:txBody>
      </p:sp>
      <p:sp>
        <p:nvSpPr>
          <p:cNvPr id="13" name="TextBox 12"/>
          <p:cNvSpPr txBox="1"/>
          <p:nvPr/>
        </p:nvSpPr>
        <p:spPr>
          <a:xfrm>
            <a:off x="6400800" y="3017520"/>
            <a:ext cx="2103120" cy="1554480"/>
          </a:xfrm>
          <a:prstGeom prst="rect">
            <a:avLst/>
          </a:prstGeom>
          <a:noFill/>
        </p:spPr>
        <p:txBody>
          <a:bodyPr wrap="square" lIns="0" tIns="0" rIns="0" bIns="0">
            <a:spAutoFit/>
          </a:bodyPr>
          <a:lstStyle/>
          <a:p>
            <a:pPr algn="ctr">
              <a:defRPr sz="1500" b="1">
                <a:solidFill>
                  <a:srgbClr val="F8FAFC"/>
                </a:solidFill>
              </a:defRPr>
            </a:pPr>
            <a:r>
              <a:t>Drizzle ORM</a:t>
            </a:r>
          </a:p>
          <a:p>
            <a:pPr algn="ctr">
              <a:spcBef>
                <a:spcPts val="200"/>
              </a:spcBef>
              <a:defRPr sz="1100" b="1">
                <a:solidFill>
                  <a:srgbClr val="10B981"/>
                </a:solidFill>
              </a:defRPr>
            </a:pPr>
            <a:r>
              <a:t>MODEL</a:t>
            </a:r>
          </a:p>
          <a:p>
            <a:pPr algn="ctr">
              <a:spcBef>
                <a:spcPts val="800"/>
              </a:spcBef>
              <a:defRPr sz="1000">
                <a:solidFill>
                  <a:srgbClr val="94A3B8"/>
                </a:solidFill>
              </a:defRPr>
            </a:pPr>
            <a:r>
              <a:t>Type-safe PostgreSQL schemas, migrations &amp; cascading relations</a:t>
            </a:r>
          </a:p>
        </p:txBody>
      </p:sp>
      <p:sp>
        <p:nvSpPr>
          <p:cNvPr id="14" name="Rounded Rectangle 13"/>
          <p:cNvSpPr/>
          <p:nvPr/>
        </p:nvSpPr>
        <p:spPr>
          <a:xfrm>
            <a:off x="8961120" y="1828800"/>
            <a:ext cx="2468880" cy="29260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829800" y="2148840"/>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&lt;/&gt;</a:t>
            </a:r>
          </a:p>
        </p:txBody>
      </p:sp>
      <p:sp>
        <p:nvSpPr>
          <p:cNvPr id="16" name="TextBox 15"/>
          <p:cNvSpPr txBox="1"/>
          <p:nvPr/>
        </p:nvSpPr>
        <p:spPr>
          <a:xfrm>
            <a:off x="9144000" y="3017520"/>
            <a:ext cx="2103120" cy="1554480"/>
          </a:xfrm>
          <a:prstGeom prst="rect">
            <a:avLst/>
          </a:prstGeom>
          <a:noFill/>
        </p:spPr>
        <p:txBody>
          <a:bodyPr wrap="square" lIns="0" tIns="0" rIns="0" bIns="0">
            <a:spAutoFit/>
          </a:bodyPr>
          <a:lstStyle/>
          <a:p>
            <a:pPr algn="ctr">
              <a:defRPr sz="1500" b="1">
                <a:solidFill>
                  <a:srgbClr val="F8FAFC"/>
                </a:solidFill>
              </a:defRPr>
            </a:pPr>
            <a:r>
              <a:t>Bun Runtime</a:t>
            </a:r>
          </a:p>
          <a:p>
            <a:pPr algn="ctr">
              <a:spcBef>
                <a:spcPts val="200"/>
              </a:spcBef>
              <a:defRPr sz="1100" b="1">
                <a:solidFill>
                  <a:srgbClr val="F59E0B"/>
                </a:solidFill>
              </a:defRPr>
            </a:pPr>
            <a:r>
              <a:t>RUNTIME</a:t>
            </a:r>
          </a:p>
          <a:p>
            <a:pPr algn="ctr">
              <a:spcBef>
                <a:spcPts val="800"/>
              </a:spcBef>
              <a:defRPr sz="1000">
                <a:solidFill>
                  <a:srgbClr val="94A3B8"/>
                </a:solidFill>
              </a:defRPr>
            </a:pPr>
            <a:r>
              <a:t>High-performance JavaScript runtime, bundler &amp; package manager</a:t>
            </a:r>
          </a:p>
        </p:txBody>
      </p:sp>
      <p:sp>
        <p:nvSpPr>
          <p:cNvPr id="17" name="Rounded Rectangle 16"/>
          <p:cNvSpPr/>
          <p:nvPr/>
        </p:nvSpPr>
        <p:spPr>
          <a:xfrm>
            <a:off x="731520" y="5029200"/>
            <a:ext cx="10698480" cy="100584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166360"/>
            <a:ext cx="10149840" cy="731520"/>
          </a:xfrm>
          <a:prstGeom prst="rect">
            <a:avLst/>
          </a:prstGeom>
          <a:noFill/>
        </p:spPr>
        <p:txBody>
          <a:bodyPr wrap="square" lIns="0" tIns="0" rIns="0" bIns="0">
            <a:spAutoFit/>
          </a:bodyPr>
          <a:lstStyle/>
          <a:p>
            <a:pPr>
              <a:defRPr sz="1200">
                <a:solidFill>
                  <a:srgbClr val="F8FAFC"/>
                </a:solidFill>
              </a:defRPr>
            </a:pPr>
            <a:r>
              <a:t>Relational Storage Architecture: District statuses and logged places are stored in normalized relational tables with foreign keys — ensuring ACID integrity, instant lookups, and multi-tier fallback (PostgreSQL / Local 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Project Structure</a:t>
            </a:r>
          </a:p>
          <a:p>
            <a:pPr>
              <a:spcBef>
                <a:spcPts val="400"/>
              </a:spcBef>
              <a:defRPr sz="1300">
                <a:solidFill>
                  <a:srgbClr val="94A3B8"/>
                </a:solidFill>
                <a:latin typeface="Arial"/>
              </a:defRPr>
            </a:pPr>
            <a:r>
              <a:t>Organizing a modern full-stack Next.js 14 application with clear boundaries.</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7</a:t>
            </a:r>
          </a:p>
        </p:txBody>
      </p:sp>
      <p:sp>
        <p:nvSpPr>
          <p:cNvPr id="5" name="Rounded Rectangle 4"/>
          <p:cNvSpPr/>
          <p:nvPr/>
        </p:nvSpPr>
        <p:spPr>
          <a:xfrm>
            <a:off x="731520" y="1645920"/>
            <a:ext cx="5303520" cy="4389120"/>
          </a:xfrm>
          <a:prstGeom prst="roundRect">
            <a:avLst/>
          </a:prstGeom>
          <a:solidFill>
            <a:srgbClr val="060B16"/>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937760" cy="4023360"/>
          </a:xfrm>
          <a:prstGeom prst="rect">
            <a:avLst/>
          </a:prstGeom>
          <a:noFill/>
        </p:spPr>
        <p:txBody>
          <a:bodyPr wrap="square" lIns="0" tIns="0" rIns="0" bIns="0">
            <a:spAutoFit/>
          </a:bodyPr>
          <a:lstStyle/>
          <a:p>
            <a:pPr>
              <a:defRPr sz="1050">
                <a:solidFill>
                  <a:srgbClr val="E2E8F0"/>
                </a:solidFill>
                <a:latin typeface="Consolas"/>
              </a:defRPr>
            </a:pPr>
            <a:r>
              <a:t>bangkok-district-tracker/</a:t>
            </a:r>
            <a:br/>
            <a:r>
              <a:t>|-- app/</a:t>
            </a:r>
            <a:br/>
            <a:r>
              <a:t>|   |-- page.tsx              # VIEW: Map &amp; Dashboard</a:t>
            </a:r>
            <a:br/>
            <a:r>
              <a:t>|   |-- admin/page.tsx        # VIEW: Place Manager</a:t>
            </a:r>
            <a:br/>
            <a:r>
              <a:t>|   `-- api/</a:t>
            </a:r>
            <a:br/>
            <a:r>
              <a:t>|       |-- auth/login/       # CONTROLLER: JWT Auth</a:t>
            </a:r>
            <a:br/>
            <a:r>
              <a:t>|       `-- districts/        # CONTROLLER: CRUD API</a:t>
            </a:r>
            <a:br/>
            <a:r>
              <a:t>|-- components/</a:t>
            </a:r>
            <a:br/>
            <a:r>
              <a:t>|   |-- map/BangkokMap.tsx    # VIEW: SVG Map Engine</a:t>
            </a:r>
            <a:br/>
            <a:r>
              <a:t>|   `-- DistrictBottomSheet.tsx # VIEW: Slide-up Drawer</a:t>
            </a:r>
            <a:br/>
            <a:r>
              <a:t>|-- lib/</a:t>
            </a:r>
            <a:br/>
            <a:r>
              <a:t>|   |-- db/schema.ts          # MODEL: Drizzle Schema</a:t>
            </a:r>
            <a:br/>
            <a:r>
              <a:t>|   |-- storage.ts            # MODEL: Data Access</a:t>
            </a:r>
            <a:br/>
            <a:r>
              <a:t>|   `-- districts-data.ts     # MODEL: Metadata &amp; Stats</a:t>
            </a:r>
            <a:br/>
            <a:r>
              <a:t>`-- data/bangkok-districts.json # DATA: SVG Coordinates</a:t>
            </a:r>
          </a:p>
        </p:txBody>
      </p:sp>
      <p:sp>
        <p:nvSpPr>
          <p:cNvPr id="7" name="Rounded Rectangle 6"/>
          <p:cNvSpPr/>
          <p:nvPr/>
        </p:nvSpPr>
        <p:spPr>
          <a:xfrm>
            <a:off x="6309360" y="1645920"/>
            <a:ext cx="512064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023360"/>
          </a:xfrm>
          <a:prstGeom prst="rect">
            <a:avLst/>
          </a:prstGeom>
          <a:noFill/>
        </p:spPr>
        <p:txBody>
          <a:bodyPr wrap="square" lIns="0" tIns="0" rIns="0" bIns="0">
            <a:spAutoFit/>
          </a:bodyPr>
          <a:lstStyle/>
          <a:p>
            <a:pPr>
              <a:defRPr sz="1600" b="1">
                <a:solidFill>
                  <a:srgbClr val="22C55E"/>
                </a:solidFill>
              </a:defRPr>
            </a:pPr>
            <a:r>
              <a:t>Why organize it this way?</a:t>
            </a:r>
          </a:p>
          <a:p>
            <a:pPr>
              <a:spcBef>
                <a:spcPts val="800"/>
              </a:spcBef>
              <a:defRPr sz="1150">
                <a:solidFill>
                  <a:srgbClr val="F8FAFC"/>
                </a:solidFill>
              </a:defRPr>
            </a:pPr>
            <a:r>
              <a:t>• app/api/ isolates HTTP request parsing and authentication from visual components.</a:t>
            </a:r>
          </a:p>
          <a:p>
            <a:pPr>
              <a:spcBef>
                <a:spcPts val="800"/>
              </a:spcBef>
              <a:defRPr sz="1150">
                <a:solidFill>
                  <a:srgbClr val="F8FAFC"/>
                </a:solidFill>
              </a:defRPr>
            </a:pPr>
            <a:r>
              <a:t>• components/ encapsulates specialized UI widgets (vector map, bottom drawer, modals).</a:t>
            </a:r>
          </a:p>
          <a:p>
            <a:pPr>
              <a:spcBef>
                <a:spcPts val="800"/>
              </a:spcBef>
              <a:defRPr sz="1150">
                <a:solidFill>
                  <a:srgbClr val="F8FAFC"/>
                </a:solidFill>
              </a:defRPr>
            </a:pPr>
            <a:r>
              <a:t>• lib/db/ &amp; lib/storage.ts encapsulates all database queries and schema definitions.</a:t>
            </a:r>
          </a:p>
          <a:p>
            <a:pPr>
              <a:spcBef>
                <a:spcPts val="800"/>
              </a:spcBef>
              <a:defRPr sz="1150">
                <a:solidFill>
                  <a:srgbClr val="F8FAFC"/>
                </a:solidFill>
              </a:defRPr>
            </a:pPr>
            <a:r>
              <a:t>• data/ maintains static GIS geo-polygons and starter landmark seed datasets.</a:t>
            </a:r>
          </a:p>
          <a:p>
            <a:pPr>
              <a:spcBef>
                <a:spcPts val="800"/>
              </a:spcBef>
              <a:defRPr sz="1150">
                <a:solidFill>
                  <a:srgbClr val="F8FAFC"/>
                </a:solidFill>
              </a:defRPr>
            </a:pPr>
            <a:r>
              <a:t>• lib/types.ts provides shared, single-source-of-truth TypeScript definitions.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The Model Layer</a:t>
            </a:r>
          </a:p>
          <a:p>
            <a:pPr>
              <a:spcBef>
                <a:spcPts val="400"/>
              </a:spcBef>
              <a:defRPr sz="1300">
                <a:solidFill>
                  <a:srgbClr val="94A3B8"/>
                </a:solidFill>
                <a:latin typeface="Arial"/>
              </a:defRPr>
            </a:pPr>
            <a:r>
              <a:t>lib/db/schema.ts &amp; lib/storage.ts — the only files that define and query data</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8</a:t>
            </a:r>
          </a:p>
        </p:txBody>
      </p:sp>
      <p:sp>
        <p:nvSpPr>
          <p:cNvPr id="5" name="Rounded Rectangle 4"/>
          <p:cNvSpPr/>
          <p:nvPr/>
        </p:nvSpPr>
        <p:spPr>
          <a:xfrm>
            <a:off x="731520" y="1645920"/>
            <a:ext cx="5852160" cy="4389120"/>
          </a:xfrm>
          <a:prstGeom prst="roundRect">
            <a:avLst/>
          </a:prstGeom>
          <a:solidFill>
            <a:srgbClr val="060B16"/>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486400" cy="4023360"/>
          </a:xfrm>
          <a:prstGeom prst="rect">
            <a:avLst/>
          </a:prstGeom>
          <a:noFill/>
        </p:spPr>
        <p:txBody>
          <a:bodyPr wrap="square" lIns="0" tIns="0" rIns="0" bIns="0">
            <a:spAutoFit/>
          </a:bodyPr>
          <a:lstStyle/>
          <a:p>
            <a:pPr>
              <a:defRPr sz="1050">
                <a:solidFill>
                  <a:srgbClr val="E2E8F0"/>
                </a:solidFill>
                <a:latin typeface="Consolas"/>
              </a:defRPr>
            </a:pPr>
            <a:r>
              <a:t>// lib/db/schema.ts</a:t>
            </a:r>
            <a:br/>
            <a:r>
              <a:t>export const districtStatuses = pgTable('district_statuses', {</a:t>
            </a:r>
            <a:br/>
            <a:r>
              <a:t>  districtId: text('district_id').primaryKey(),</a:t>
            </a:r>
            <a:br/>
            <a:r>
              <a:t>  isVisited: boolean('is_visited').notNull().default(false),</a:t>
            </a:r>
            <a:br/>
            <a:r>
              <a:t>  generalNotes: text('general_notes'),</a:t>
            </a:r>
            <a:br/>
            <a:r>
              <a:t>  updatedAt: timestamp('updated_at').defaultNow().notNull(),</a:t>
            </a:r>
            <a:br/>
            <a:r>
              <a:t>});</a:t>
            </a:r>
            <a:br/>
            <a:br/>
            <a:r>
              <a:t>export const places = pgTable('places', {</a:t>
            </a:r>
            <a:br/>
            <a:r>
              <a:t>  id: text('id').primaryKey(),</a:t>
            </a:r>
            <a:br/>
            <a:r>
              <a:t>  districtId: text('district_id').notNull()</a:t>
            </a:r>
            <a:br/>
            <a:r>
              <a:t>    .references(() =&gt; districtStatuses.districtId, </a:t>
            </a:r>
            <a:br/>
            <a:r>
              <a:t>      { onDelete: 'cascade' }),</a:t>
            </a:r>
            <a:br/>
            <a:r>
              <a:t>  name: text('name').notNull(),</a:t>
            </a:r>
            <a:br/>
            <a:r>
              <a:t>  category: text('category').notNull().default('Other'),</a:t>
            </a:r>
            <a:br/>
            <a:r>
              <a:t>  visitedDate: text('visited_date'),</a:t>
            </a:r>
            <a:br/>
            <a:r>
              <a:t>  notes: text('notes'),</a:t>
            </a:r>
            <a:br/>
            <a:r>
              <a:t>});</a:t>
            </a:r>
          </a:p>
        </p:txBody>
      </p:sp>
      <p:sp>
        <p:nvSpPr>
          <p:cNvPr id="7" name="Rounded Rectangle 6"/>
          <p:cNvSpPr/>
          <p:nvPr/>
        </p:nvSpPr>
        <p:spPr>
          <a:xfrm>
            <a:off x="6858000" y="1645920"/>
            <a:ext cx="457200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1828800"/>
            <a:ext cx="4023360" cy="4023360"/>
          </a:xfrm>
          <a:prstGeom prst="rect">
            <a:avLst/>
          </a:prstGeom>
          <a:noFill/>
        </p:spPr>
        <p:txBody>
          <a:bodyPr wrap="square" lIns="0" tIns="0" rIns="0" bIns="0">
            <a:spAutoFit/>
          </a:bodyPr>
          <a:lstStyle/>
          <a:p>
            <a:pPr>
              <a:defRPr sz="1600" b="1">
                <a:solidFill>
                  <a:srgbClr val="22C55E"/>
                </a:solidFill>
              </a:defRPr>
            </a:pPr>
            <a:r>
              <a:t>Notice</a:t>
            </a:r>
          </a:p>
          <a:p>
            <a:pPr>
              <a:spcBef>
                <a:spcPts val="1200"/>
              </a:spcBef>
              <a:defRPr sz="1150">
                <a:solidFill>
                  <a:srgbClr val="F8FAFC"/>
                </a:solidFill>
              </a:defRPr>
            </a:pPr>
            <a:r>
              <a:t>Type-Safe Schema: Drizzle ORM defines tables with TypeScript inference, preventing SQL syntax and type errors at compile time.</a:t>
            </a:r>
          </a:p>
          <a:p>
            <a:pPr>
              <a:spcBef>
                <a:spcPts val="1200"/>
              </a:spcBef>
              <a:defRPr sz="1150">
                <a:solidFill>
                  <a:srgbClr val="F8FAFC"/>
                </a:solidFill>
              </a:defRPr>
            </a:pPr>
            <a:r>
              <a:t>Cascading Foreign Keys: The references() constraint with onDelete: 'cascade' automatically cleans up places if a district status changes.</a:t>
            </a:r>
          </a:p>
          <a:p>
            <a:pPr>
              <a:spcBef>
                <a:spcPts val="1200"/>
              </a:spcBef>
              <a:defRPr sz="1150">
                <a:solidFill>
                  <a:srgbClr val="F8FAFC"/>
                </a:solidFill>
              </a:defRPr>
            </a:pPr>
            <a:r>
              <a:t>Zero HTTP / UI Logic: No req, res, or HTML anywhere in this layer. It is pure data definition and database queries.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The View Layer</a:t>
            </a:r>
          </a:p>
          <a:p>
            <a:pPr>
              <a:spcBef>
                <a:spcPts val="400"/>
              </a:spcBef>
              <a:defRPr sz="1300">
                <a:solidFill>
                  <a:srgbClr val="94A3B8"/>
                </a:solidFill>
                <a:latin typeface="Arial"/>
              </a:defRPr>
            </a:pPr>
            <a:r>
              <a:t>components/map/BangkokMap.tsx — turns district data into interactive vector graphics</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9</a:t>
            </a:r>
          </a:p>
        </p:txBody>
      </p:sp>
      <p:sp>
        <p:nvSpPr>
          <p:cNvPr id="5" name="Rounded Rectangle 4"/>
          <p:cNvSpPr/>
          <p:nvPr/>
        </p:nvSpPr>
        <p:spPr>
          <a:xfrm>
            <a:off x="731520" y="1645920"/>
            <a:ext cx="5852160" cy="4389120"/>
          </a:xfrm>
          <a:prstGeom prst="roundRect">
            <a:avLst/>
          </a:prstGeom>
          <a:solidFill>
            <a:srgbClr val="060B16"/>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486400" cy="4023360"/>
          </a:xfrm>
          <a:prstGeom prst="rect">
            <a:avLst/>
          </a:prstGeom>
          <a:noFill/>
        </p:spPr>
        <p:txBody>
          <a:bodyPr wrap="square" lIns="0" tIns="0" rIns="0" bIns="0">
            <a:spAutoFit/>
          </a:bodyPr>
          <a:lstStyle/>
          <a:p>
            <a:pPr>
              <a:defRPr sz="1050">
                <a:solidFill>
                  <a:srgbClr val="E2E8F0"/>
                </a:solidFill>
                <a:latin typeface="Consolas"/>
              </a:defRPr>
            </a:pPr>
            <a:r>
              <a:t>// components/map/BangkokMap.tsx</a:t>
            </a:r>
            <a:br/>
            <a:r>
              <a:t>export function BangkokMap({ districts, onSelectDistrict }) {</a:t>
            </a:r>
            <a:br/>
            <a:r>
              <a:t>  return (</a:t>
            </a:r>
            <a:br/>
            <a:r>
              <a:t>    &lt;svg viewBox="0 0 1000 800" className="w-full h-auto"&gt;</a:t>
            </a:r>
            <a:br/>
            <a:r>
              <a:t>      {districts.map((district) =&gt; {</a:t>
            </a:r>
            <a:br/>
            <a:r>
              <a:t>        const isVisited = district.userData?.isVisited;</a:t>
            </a:r>
            <a:br/>
            <a:r>
              <a:t>        return (</a:t>
            </a:r>
            <a:br/>
            <a:r>
              <a:t>          &lt;path</a:t>
            </a:r>
            <a:br/>
            <a:r>
              <a:t>            key={district.id}</a:t>
            </a:r>
            <a:br/>
            <a:r>
              <a:t>            d={district.svgPath}</a:t>
            </a:r>
            <a:br/>
            <a:r>
              <a:t>            fill={isVisited ? '#22c55e' : '#1e293b'}</a:t>
            </a:r>
            <a:br/>
            <a:r>
              <a:t>            stroke="#060913"</a:t>
            </a:r>
            <a:br/>
            <a:r>
              <a:t>            strokeWidth="1.5"</a:t>
            </a:r>
            <a:br/>
            <a:r>
              <a:t>            onClick={() =&gt; onSelectDistrict(district)}</a:t>
            </a:r>
            <a:br/>
            <a:r>
              <a:t>            className="transition-colors cursor-pointer hover:opacity-80"</a:t>
            </a:r>
            <a:br/>
            <a:r>
              <a:t>          /&gt;</a:t>
            </a:r>
            <a:br/>
            <a:r>
              <a:t>        );</a:t>
            </a:r>
            <a:br/>
            <a:r>
              <a:t>      })}</a:t>
            </a:r>
            <a:br/>
            <a:r>
              <a:t>    &lt;/svg&gt;</a:t>
            </a:r>
            <a:br/>
            <a:r>
              <a:t>  );</a:t>
            </a:r>
            <a:br/>
            <a:r>
              <a:t>}</a:t>
            </a:r>
          </a:p>
        </p:txBody>
      </p:sp>
      <p:sp>
        <p:nvSpPr>
          <p:cNvPr id="7" name="Rounded Rectangle 6"/>
          <p:cNvSpPr/>
          <p:nvPr/>
        </p:nvSpPr>
        <p:spPr>
          <a:xfrm>
            <a:off x="6858000" y="1645920"/>
            <a:ext cx="457200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1828800"/>
            <a:ext cx="4023360" cy="4023360"/>
          </a:xfrm>
          <a:prstGeom prst="rect">
            <a:avLst/>
          </a:prstGeom>
          <a:noFill/>
        </p:spPr>
        <p:txBody>
          <a:bodyPr wrap="square" lIns="0" tIns="0" rIns="0" bIns="0">
            <a:spAutoFit/>
          </a:bodyPr>
          <a:lstStyle/>
          <a:p>
            <a:pPr>
              <a:defRPr sz="1600" b="1">
                <a:solidFill>
                  <a:srgbClr val="06B6D4"/>
                </a:solidFill>
              </a:defRPr>
            </a:pPr>
            <a:r>
              <a:t>Notice</a:t>
            </a:r>
          </a:p>
          <a:p>
            <a:pPr>
              <a:spcBef>
                <a:spcPts val="1200"/>
              </a:spcBef>
              <a:defRPr sz="1150">
                <a:solidFill>
                  <a:srgbClr val="F8FAFC"/>
                </a:solidFill>
              </a:defRPr>
            </a:pPr>
            <a:r>
              <a:t>Pure Declarative UI: The view receives data props from SWR and renders colors dynamically without querying the database.</a:t>
            </a:r>
          </a:p>
          <a:p>
            <a:pPr>
              <a:spcBef>
                <a:spcPts val="1200"/>
              </a:spcBef>
              <a:defRPr sz="1150">
                <a:solidFill>
                  <a:srgbClr val="F8FAFC"/>
                </a:solidFill>
              </a:defRPr>
            </a:pPr>
            <a:r>
              <a:t>Event Dispatching: onClick triggers onSelectDistrict(district), delegating navigation and state logic back to the parent container.</a:t>
            </a:r>
          </a:p>
          <a:p>
            <a:pPr>
              <a:spcBef>
                <a:spcPts val="1200"/>
              </a:spcBef>
              <a:defRPr sz="1150">
                <a:solidFill>
                  <a:srgbClr val="F8FAFC"/>
                </a:solidFill>
              </a:defRPr>
            </a:pPr>
            <a:r>
              <a:t>Responsive SVG Matrix: Handles pan, pinch-to-zoom, and touch gestures on the client without triggering backend roundtrips.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The Controller Layer</a:t>
            </a:r>
          </a:p>
          <a:p>
            <a:pPr>
              <a:spcBef>
                <a:spcPts val="400"/>
              </a:spcBef>
              <a:defRPr sz="1300">
                <a:solidFill>
                  <a:srgbClr val="94A3B8"/>
                </a:solidFill>
                <a:latin typeface="Arial"/>
              </a:defRPr>
            </a:pPr>
            <a:r>
              <a:t>app/api/districts/route.ts — request validation, security, and flow control</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10</a:t>
            </a:r>
          </a:p>
        </p:txBody>
      </p:sp>
      <p:sp>
        <p:nvSpPr>
          <p:cNvPr id="5" name="Rounded Rectangle 4"/>
          <p:cNvSpPr/>
          <p:nvPr/>
        </p:nvSpPr>
        <p:spPr>
          <a:xfrm>
            <a:off x="731520" y="1645920"/>
            <a:ext cx="5852160" cy="4389120"/>
          </a:xfrm>
          <a:prstGeom prst="roundRect">
            <a:avLst/>
          </a:prstGeom>
          <a:solidFill>
            <a:srgbClr val="060B16"/>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486400" cy="4023360"/>
          </a:xfrm>
          <a:prstGeom prst="rect">
            <a:avLst/>
          </a:prstGeom>
          <a:noFill/>
        </p:spPr>
        <p:txBody>
          <a:bodyPr wrap="square" lIns="0" tIns="0" rIns="0" bIns="0">
            <a:spAutoFit/>
          </a:bodyPr>
          <a:lstStyle/>
          <a:p>
            <a:pPr>
              <a:defRPr sz="1000">
                <a:solidFill>
                  <a:srgbClr val="E2E8F0"/>
                </a:solidFill>
                <a:latin typeface="Consolas"/>
              </a:defRPr>
            </a:pPr>
            <a:r>
              <a:t>// app/api/districts/route.ts</a:t>
            </a:r>
            <a:br/>
            <a:r>
              <a:t>export async function POST(req: NextRequest) {</a:t>
            </a:r>
            <a:br/>
            <a:r>
              <a:t>  // 1. Verify Admin Authentication via JWT</a:t>
            </a:r>
            <a:br/>
            <a:r>
              <a:t>  const isAdmin = await isAuthenticatedAdmin();</a:t>
            </a:r>
            <a:br/>
            <a:r>
              <a:t>  if (!isAdmin) {</a:t>
            </a:r>
            <a:br/>
            <a:r>
              <a:t>    return NextResponse.json({ error: 'Unauthorized' }, { status: 401 });</a:t>
            </a:r>
            <a:br/>
            <a:r>
              <a:t>  }</a:t>
            </a:r>
            <a:br/>
            <a:br/>
            <a:r>
              <a:t>  // 2. Parse &amp; Validate Request Body</a:t>
            </a:r>
            <a:br/>
            <a:r>
              <a:t>  const { action, districtId, place } = await req.json();</a:t>
            </a:r>
            <a:br/>
            <a:r>
              <a:t>  if (action === 'add_place') {</a:t>
            </a:r>
            <a:br/>
            <a:r>
              <a:t>    if (!place?.name) {</a:t>
            </a:r>
            <a:br/>
            <a:r>
              <a:t>      return NextResponse.json({ error: 'Place name required' }, { status: 400 });</a:t>
            </a:r>
            <a:br/>
            <a:r>
              <a:t>    }</a:t>
            </a:r>
            <a:br/>
            <a:r>
              <a:t>    // 3. Delegate to Model Layer</a:t>
            </a:r>
            <a:br/>
            <a:r>
              <a:t>    const res = await addPlaceToDistrict(districtId, place);</a:t>
            </a:r>
            <a:br/>
            <a:r>
              <a:t>    </a:t>
            </a:r>
            <a:br/>
            <a:r>
              <a:t>    // 4. Invalidate Server Cache &amp; Return Response</a:t>
            </a:r>
            <a:br/>
            <a:r>
              <a:t>    revalidateTag('districts-state');</a:t>
            </a:r>
            <a:br/>
            <a:r>
              <a:t>    return NextResponse.json({ success: true, state: res.state });</a:t>
            </a:r>
            <a:br/>
            <a:r>
              <a:t>  }</a:t>
            </a:r>
            <a:br/>
            <a:r>
              <a:t>}</a:t>
            </a:r>
          </a:p>
        </p:txBody>
      </p:sp>
      <p:sp>
        <p:nvSpPr>
          <p:cNvPr id="7" name="Rounded Rectangle 6"/>
          <p:cNvSpPr/>
          <p:nvPr/>
        </p:nvSpPr>
        <p:spPr>
          <a:xfrm>
            <a:off x="6858000" y="1645920"/>
            <a:ext cx="457200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1828800"/>
            <a:ext cx="4023360" cy="4023360"/>
          </a:xfrm>
          <a:prstGeom prst="rect">
            <a:avLst/>
          </a:prstGeom>
          <a:noFill/>
        </p:spPr>
        <p:txBody>
          <a:bodyPr wrap="square" lIns="0" tIns="0" rIns="0" bIns="0">
            <a:spAutoFit/>
          </a:bodyPr>
          <a:lstStyle/>
          <a:p>
            <a:pPr>
              <a:defRPr sz="1600" b="1">
                <a:solidFill>
                  <a:srgbClr val="6366F1"/>
                </a:solidFill>
              </a:defRPr>
            </a:pPr>
            <a:r>
              <a:t>Notice</a:t>
            </a:r>
          </a:p>
          <a:p>
            <a:pPr>
              <a:spcBef>
                <a:spcPts val="1200"/>
              </a:spcBef>
              <a:defRPr sz="1150">
                <a:solidFill>
                  <a:srgbClr val="F8FAFC"/>
                </a:solidFill>
              </a:defRPr>
            </a:pPr>
            <a:r>
              <a:t>Authentication Gatekeeper: Verifies HttpOnly JWT session cookies before allowing state modifications, protecting against unauthorized writes.</a:t>
            </a:r>
          </a:p>
          <a:p>
            <a:pPr>
              <a:spcBef>
                <a:spcPts val="1200"/>
              </a:spcBef>
              <a:defRPr sz="1150">
                <a:solidFill>
                  <a:srgbClr val="F8FAFC"/>
                </a:solidFill>
              </a:defRPr>
            </a:pPr>
            <a:r>
              <a:t>Validation &amp; Delegation: Validates incoming JSON payloads and delegates storage operations to lib/storage.ts without writing raw SQL.</a:t>
            </a:r>
          </a:p>
          <a:p>
            <a:pPr>
              <a:spcBef>
                <a:spcPts val="1200"/>
              </a:spcBef>
              <a:defRPr sz="1150">
                <a:solidFill>
                  <a:srgbClr val="F8FAFC"/>
                </a:solidFill>
              </a:defRPr>
            </a:pPr>
            <a:r>
              <a:t>Cache Invalidation: Calls revalidateTag('districts-state') to immediately refresh server-cached responses across all clients.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Routes: Connecting URLs to Controllers</a:t>
            </a:r>
          </a:p>
          <a:p>
            <a:pPr>
              <a:spcBef>
                <a:spcPts val="400"/>
              </a:spcBef>
              <a:defRPr sz="1300">
                <a:solidFill>
                  <a:srgbClr val="94A3B8"/>
                </a:solidFill>
                <a:latin typeface="Arial"/>
              </a:defRPr>
            </a:pPr>
            <a:r>
              <a:t>Next.js App Router maps HTTP methods and URLs to dedicated Route Handler functions.</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11</a:t>
            </a:r>
          </a:p>
        </p:txBody>
      </p:sp>
      <p:sp>
        <p:nvSpPr>
          <p:cNvPr id="5" name="Rounded Rectangle 4"/>
          <p:cNvSpPr/>
          <p:nvPr/>
        </p:nvSpPr>
        <p:spPr>
          <a:xfrm>
            <a:off x="731520" y="1645920"/>
            <a:ext cx="10698480" cy="43891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332720" cy="365760"/>
          </a:xfrm>
          <a:prstGeom prst="rect">
            <a:avLst/>
          </a:prstGeom>
          <a:noFill/>
        </p:spPr>
        <p:txBody>
          <a:bodyPr wrap="none">
            <a:spAutoFit/>
          </a:bodyPr>
          <a:lstStyle/>
          <a:p>
            <a:pPr>
              <a:defRPr sz="1100" b="1">
                <a:solidFill>
                  <a:srgbClr val="22C55E"/>
                </a:solidFill>
                <a:latin typeface="Consolas"/>
              </a:defRPr>
            </a:pPr>
            <a:r>
              <a:t>METHOD     URL                    CONTROLLER ACTION        PURPOSE</a:t>
            </a:r>
          </a:p>
        </p:txBody>
      </p:sp>
      <p:sp>
        <p:nvSpPr>
          <p:cNvPr id="7" name="TextBox 6"/>
          <p:cNvSpPr txBox="1"/>
          <p:nvPr/>
        </p:nvSpPr>
        <p:spPr>
          <a:xfrm>
            <a:off x="914400" y="2240280"/>
            <a:ext cx="10332720" cy="365760"/>
          </a:xfrm>
          <a:prstGeom prst="rect">
            <a:avLst/>
          </a:prstGeom>
          <a:noFill/>
        </p:spPr>
        <p:txBody>
          <a:bodyPr wrap="none" lIns="0" tIns="0" rIns="0" bIns="0">
            <a:spAutoFit/>
          </a:bodyPr>
          <a:lstStyle/>
          <a:p>
            <a:pPr>
              <a:defRPr sz="1100">
                <a:solidFill>
                  <a:srgbClr val="F8FAFC"/>
                </a:solidFill>
                <a:latin typeface="Consolas"/>
              </a:defRPr>
            </a:pPr>
            <a:r>
              <a:t>GET        /api/districts         GET()                    Fetch all 50 districts, visited status &amp; stats</a:t>
            </a:r>
          </a:p>
        </p:txBody>
      </p:sp>
      <p:sp>
        <p:nvSpPr>
          <p:cNvPr id="8" name="TextBox 7"/>
          <p:cNvSpPr txBox="1"/>
          <p:nvPr/>
        </p:nvSpPr>
        <p:spPr>
          <a:xfrm>
            <a:off x="914400" y="2679192"/>
            <a:ext cx="10332720" cy="365760"/>
          </a:xfrm>
          <a:prstGeom prst="rect">
            <a:avLst/>
          </a:prstGeom>
          <a:noFill/>
        </p:spPr>
        <p:txBody>
          <a:bodyPr wrap="none" lIns="0" tIns="0" rIns="0" bIns="0">
            <a:spAutoFit/>
          </a:bodyPr>
          <a:lstStyle/>
          <a:p>
            <a:pPr>
              <a:defRPr sz="1100">
                <a:solidFill>
                  <a:srgbClr val="93C5FD"/>
                </a:solidFill>
                <a:latin typeface="Consolas"/>
              </a:defRPr>
            </a:pPr>
            <a:r>
              <a:t>POST       /api/districts         action: 'toggle_visited' Toggle district visited status (true / false)</a:t>
            </a:r>
          </a:p>
        </p:txBody>
      </p:sp>
      <p:sp>
        <p:nvSpPr>
          <p:cNvPr id="9" name="TextBox 8"/>
          <p:cNvSpPr txBox="1"/>
          <p:nvPr/>
        </p:nvSpPr>
        <p:spPr>
          <a:xfrm>
            <a:off x="914400" y="3118104"/>
            <a:ext cx="10332720" cy="365760"/>
          </a:xfrm>
          <a:prstGeom prst="rect">
            <a:avLst/>
          </a:prstGeom>
          <a:noFill/>
        </p:spPr>
        <p:txBody>
          <a:bodyPr wrap="none" lIns="0" tIns="0" rIns="0" bIns="0">
            <a:spAutoFit/>
          </a:bodyPr>
          <a:lstStyle/>
          <a:p>
            <a:pPr>
              <a:defRPr sz="1100">
                <a:solidFill>
                  <a:srgbClr val="93C5FD"/>
                </a:solidFill>
                <a:latin typeface="Consolas"/>
              </a:defRPr>
            </a:pPr>
            <a:r>
              <a:t>POST       /api/districts         action: 'add_place'      Add visited spot (Mall, Temple, Cafe, etc.)</a:t>
            </a:r>
          </a:p>
        </p:txBody>
      </p:sp>
      <p:sp>
        <p:nvSpPr>
          <p:cNvPr id="10" name="TextBox 9"/>
          <p:cNvSpPr txBox="1"/>
          <p:nvPr/>
        </p:nvSpPr>
        <p:spPr>
          <a:xfrm>
            <a:off x="914400" y="3557016"/>
            <a:ext cx="10332720" cy="365760"/>
          </a:xfrm>
          <a:prstGeom prst="rect">
            <a:avLst/>
          </a:prstGeom>
          <a:noFill/>
        </p:spPr>
        <p:txBody>
          <a:bodyPr wrap="none" lIns="0" tIns="0" rIns="0" bIns="0">
            <a:spAutoFit/>
          </a:bodyPr>
          <a:lstStyle/>
          <a:p>
            <a:pPr>
              <a:defRPr sz="1100">
                <a:solidFill>
                  <a:srgbClr val="93C5FD"/>
                </a:solidFill>
                <a:latin typeface="Consolas"/>
              </a:defRPr>
            </a:pPr>
            <a:r>
              <a:t>POST       /api/districts         action: 'delete_place'   Remove a logged spot from a district</a:t>
            </a:r>
          </a:p>
        </p:txBody>
      </p:sp>
      <p:sp>
        <p:nvSpPr>
          <p:cNvPr id="11" name="TextBox 10"/>
          <p:cNvSpPr txBox="1"/>
          <p:nvPr/>
        </p:nvSpPr>
        <p:spPr>
          <a:xfrm>
            <a:off x="914400" y="3995928"/>
            <a:ext cx="10332720" cy="365760"/>
          </a:xfrm>
          <a:prstGeom prst="rect">
            <a:avLst/>
          </a:prstGeom>
          <a:noFill/>
        </p:spPr>
        <p:txBody>
          <a:bodyPr wrap="none" lIns="0" tIns="0" rIns="0" bIns="0">
            <a:spAutoFit/>
          </a:bodyPr>
          <a:lstStyle/>
          <a:p>
            <a:pPr>
              <a:defRPr sz="1100">
                <a:solidFill>
                  <a:srgbClr val="93C5FD"/>
                </a:solidFill>
                <a:latin typeface="Consolas"/>
              </a:defRPr>
            </a:pPr>
            <a:r>
              <a:t>POST       /api/auth/login        POST(password)           Authenticate admin &amp; issue HttpOnly JWT</a:t>
            </a:r>
          </a:p>
        </p:txBody>
      </p:sp>
      <p:sp>
        <p:nvSpPr>
          <p:cNvPr id="12" name="TextBox 11"/>
          <p:cNvSpPr txBox="1"/>
          <p:nvPr/>
        </p:nvSpPr>
        <p:spPr>
          <a:xfrm>
            <a:off x="914400" y="4434840"/>
            <a:ext cx="10332720" cy="365760"/>
          </a:xfrm>
          <a:prstGeom prst="rect">
            <a:avLst/>
          </a:prstGeom>
          <a:noFill/>
        </p:spPr>
        <p:txBody>
          <a:bodyPr wrap="none" lIns="0" tIns="0" rIns="0" bIns="0">
            <a:spAutoFit/>
          </a:bodyPr>
          <a:lstStyle/>
          <a:p>
            <a:pPr>
              <a:defRPr sz="1100">
                <a:solidFill>
                  <a:srgbClr val="F8FAFC"/>
                </a:solidFill>
                <a:latin typeface="Consolas"/>
              </a:defRPr>
            </a:pPr>
            <a:r>
              <a:t>GET        /api/export            GET()                    Export full database snapshot as JSON</a:t>
            </a:r>
          </a:p>
        </p:txBody>
      </p:sp>
      <p:sp>
        <p:nvSpPr>
          <p:cNvPr id="13" name="TextBox 12"/>
          <p:cNvSpPr txBox="1"/>
          <p:nvPr/>
        </p:nvSpPr>
        <p:spPr>
          <a:xfrm>
            <a:off x="914400" y="4873752"/>
            <a:ext cx="10332720" cy="365760"/>
          </a:xfrm>
          <a:prstGeom prst="rect">
            <a:avLst/>
          </a:prstGeom>
          <a:noFill/>
        </p:spPr>
        <p:txBody>
          <a:bodyPr wrap="none" lIns="0" tIns="0" rIns="0" bIns="0">
            <a:spAutoFit/>
          </a:bodyPr>
          <a:lstStyle/>
          <a:p>
            <a:pPr>
              <a:defRPr sz="1100">
                <a:solidFill>
                  <a:srgbClr val="93C5FD"/>
                </a:solidFill>
                <a:latin typeface="Consolas"/>
              </a:defRPr>
            </a:pPr>
            <a:r>
              <a:t>POST       /api/import            POST(backup_json)        Restore database state from uploaded JSON</a:t>
            </a:r>
          </a:p>
        </p:txBody>
      </p:sp>
      <p:sp>
        <p:nvSpPr>
          <p:cNvPr id="14" name="TextBox 13"/>
          <p:cNvSpPr txBox="1"/>
          <p:nvPr/>
        </p:nvSpPr>
        <p:spPr>
          <a:xfrm>
            <a:off x="914400" y="5312664"/>
            <a:ext cx="10332720" cy="365760"/>
          </a:xfrm>
          <a:prstGeom prst="rect">
            <a:avLst/>
          </a:prstGeom>
          <a:noFill/>
        </p:spPr>
        <p:txBody>
          <a:bodyPr wrap="none" lIns="0" tIns="0" rIns="0" bIns="0">
            <a:spAutoFit/>
          </a:bodyPr>
          <a:lstStyle/>
          <a:p>
            <a:pPr>
              <a:defRPr sz="1100">
                <a:solidFill>
                  <a:srgbClr val="93C5FD"/>
                </a:solidFill>
                <a:latin typeface="Consolas"/>
              </a:defRPr>
            </a:pPr>
            <a:r>
              <a:t>POST       /api/reset             POST()                   Reset database and reseed default landmarks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Request Lifecycle: Adding a Place</a:t>
            </a:r>
          </a:p>
          <a:p>
            <a:pPr>
              <a:spcBef>
                <a:spcPts val="400"/>
              </a:spcBef>
              <a:defRPr sz="1300">
                <a:solidFill>
                  <a:srgbClr val="94A3B8"/>
                </a:solidFill>
                <a:latin typeface="Arial"/>
              </a:defRPr>
            </a:pPr>
            <a:r>
              <a:t>Follow one user request from the browser interface all the way to PostgreSQL and back.</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12</a:t>
            </a:r>
          </a:p>
        </p:txBody>
      </p:sp>
      <p:sp>
        <p:nvSpPr>
          <p:cNvPr id="5" name="Rounded Rectangle 4"/>
          <p:cNvSpPr/>
          <p:nvPr/>
        </p:nvSpPr>
        <p:spPr>
          <a:xfrm>
            <a:off x="731520" y="1645920"/>
            <a:ext cx="1069848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178308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7" name="TextBox 6"/>
          <p:cNvSpPr txBox="1"/>
          <p:nvPr/>
        </p:nvSpPr>
        <p:spPr>
          <a:xfrm>
            <a:off x="1645920" y="1828800"/>
            <a:ext cx="5943600" cy="365760"/>
          </a:xfrm>
          <a:prstGeom prst="rect">
            <a:avLst/>
          </a:prstGeom>
          <a:noFill/>
        </p:spPr>
        <p:txBody>
          <a:bodyPr wrap="square" lIns="0" tIns="0" rIns="0" bIns="0">
            <a:spAutoFit/>
          </a:bodyPr>
          <a:lstStyle/>
          <a:p>
            <a:pPr>
              <a:defRPr sz="1300" b="1">
                <a:solidFill>
                  <a:srgbClr val="F8FAFC"/>
                </a:solidFill>
              </a:defRPr>
            </a:pPr>
            <a:r>
              <a:t>User submits 'Add Place' form in District Bottom Sheet</a:t>
            </a:r>
          </a:p>
        </p:txBody>
      </p:sp>
      <p:sp>
        <p:nvSpPr>
          <p:cNvPr id="8" name="TextBox 7"/>
          <p:cNvSpPr txBox="1"/>
          <p:nvPr/>
        </p:nvSpPr>
        <p:spPr>
          <a:xfrm>
            <a:off x="7772400" y="1828800"/>
            <a:ext cx="3474720" cy="365760"/>
          </a:xfrm>
          <a:prstGeom prst="rect">
            <a:avLst/>
          </a:prstGeom>
          <a:noFill/>
        </p:spPr>
        <p:txBody>
          <a:bodyPr wrap="square" lIns="0" tIns="0" rIns="0" bIns="0">
            <a:spAutoFit/>
          </a:bodyPr>
          <a:lstStyle/>
          <a:p>
            <a:pPr algn="r">
              <a:defRPr sz="1100">
                <a:solidFill>
                  <a:srgbClr val="3B82F6"/>
                </a:solidFill>
                <a:latin typeface="Consolas"/>
              </a:defRPr>
            </a:pPr>
            <a:r>
              <a:t>VIEW → POST /api/districts</a:t>
            </a:r>
          </a:p>
        </p:txBody>
      </p:sp>
      <p:sp>
        <p:nvSpPr>
          <p:cNvPr id="9" name="Rounded Rectangle 8"/>
          <p:cNvSpPr/>
          <p:nvPr/>
        </p:nvSpPr>
        <p:spPr>
          <a:xfrm>
            <a:off x="731520" y="2514600"/>
            <a:ext cx="1069848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05840" y="2651760"/>
            <a:ext cx="457200" cy="45720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1" name="TextBox 10"/>
          <p:cNvSpPr txBox="1"/>
          <p:nvPr/>
        </p:nvSpPr>
        <p:spPr>
          <a:xfrm>
            <a:off x="1645920" y="2697480"/>
            <a:ext cx="5943600" cy="365760"/>
          </a:xfrm>
          <a:prstGeom prst="rect">
            <a:avLst/>
          </a:prstGeom>
          <a:noFill/>
        </p:spPr>
        <p:txBody>
          <a:bodyPr wrap="square" lIns="0" tIns="0" rIns="0" bIns="0">
            <a:spAutoFit/>
          </a:bodyPr>
          <a:lstStyle/>
          <a:p>
            <a:pPr>
              <a:defRPr sz="1300" b="1">
                <a:solidFill>
                  <a:srgbClr val="F8FAFC"/>
                </a:solidFill>
              </a:defRPr>
            </a:pPr>
            <a:r>
              <a:t>Next.js App Router routes request to the API controller</a:t>
            </a:r>
          </a:p>
        </p:txBody>
      </p:sp>
      <p:sp>
        <p:nvSpPr>
          <p:cNvPr id="12" name="TextBox 11"/>
          <p:cNvSpPr txBox="1"/>
          <p:nvPr/>
        </p:nvSpPr>
        <p:spPr>
          <a:xfrm>
            <a:off x="7772400" y="2697480"/>
            <a:ext cx="3474720" cy="365760"/>
          </a:xfrm>
          <a:prstGeom prst="rect">
            <a:avLst/>
          </a:prstGeom>
          <a:noFill/>
        </p:spPr>
        <p:txBody>
          <a:bodyPr wrap="square" lIns="0" tIns="0" rIns="0" bIns="0">
            <a:spAutoFit/>
          </a:bodyPr>
          <a:lstStyle/>
          <a:p>
            <a:pPr algn="r">
              <a:defRPr sz="1100">
                <a:solidFill>
                  <a:srgbClr val="06B6D4"/>
                </a:solidFill>
                <a:latin typeface="Consolas"/>
              </a:defRPr>
            </a:pPr>
            <a:r>
              <a:t>ROUTES → app/api/districts/route.ts</a:t>
            </a:r>
          </a:p>
        </p:txBody>
      </p:sp>
      <p:sp>
        <p:nvSpPr>
          <p:cNvPr id="13" name="Rounded Rectangle 12"/>
          <p:cNvSpPr/>
          <p:nvPr/>
        </p:nvSpPr>
        <p:spPr>
          <a:xfrm>
            <a:off x="731520" y="3383280"/>
            <a:ext cx="1069848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520440"/>
            <a:ext cx="457200" cy="45720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5" name="TextBox 14"/>
          <p:cNvSpPr txBox="1"/>
          <p:nvPr/>
        </p:nvSpPr>
        <p:spPr>
          <a:xfrm>
            <a:off x="1645920" y="3566160"/>
            <a:ext cx="5943600" cy="365760"/>
          </a:xfrm>
          <a:prstGeom prst="rect">
            <a:avLst/>
          </a:prstGeom>
          <a:noFill/>
        </p:spPr>
        <p:txBody>
          <a:bodyPr wrap="square" lIns="0" tIns="0" rIns="0" bIns="0">
            <a:spAutoFit/>
          </a:bodyPr>
          <a:lstStyle/>
          <a:p>
            <a:pPr>
              <a:defRPr sz="1300" b="1">
                <a:solidFill>
                  <a:srgbClr val="F8FAFC"/>
                </a:solidFill>
              </a:defRPr>
            </a:pPr>
            <a:r>
              <a:t>Controller verifies JWT auth &amp; validates payload input</a:t>
            </a:r>
          </a:p>
        </p:txBody>
      </p:sp>
      <p:sp>
        <p:nvSpPr>
          <p:cNvPr id="16" name="TextBox 15"/>
          <p:cNvSpPr txBox="1"/>
          <p:nvPr/>
        </p:nvSpPr>
        <p:spPr>
          <a:xfrm>
            <a:off x="7772400" y="3566160"/>
            <a:ext cx="3474720" cy="365760"/>
          </a:xfrm>
          <a:prstGeom prst="rect">
            <a:avLst/>
          </a:prstGeom>
          <a:noFill/>
        </p:spPr>
        <p:txBody>
          <a:bodyPr wrap="square" lIns="0" tIns="0" rIns="0" bIns="0">
            <a:spAutoFit/>
          </a:bodyPr>
          <a:lstStyle/>
          <a:p>
            <a:pPr algn="r">
              <a:defRPr sz="1100">
                <a:solidFill>
                  <a:srgbClr val="A855F7"/>
                </a:solidFill>
                <a:latin typeface="Consolas"/>
              </a:defRPr>
            </a:pPr>
            <a:r>
              <a:t>CONTROLLER → isAuthenticatedAdmin()</a:t>
            </a:r>
          </a:p>
        </p:txBody>
      </p:sp>
      <p:sp>
        <p:nvSpPr>
          <p:cNvPr id="17" name="Rounded Rectangle 16"/>
          <p:cNvSpPr/>
          <p:nvPr/>
        </p:nvSpPr>
        <p:spPr>
          <a:xfrm>
            <a:off x="731520" y="4251959"/>
            <a:ext cx="1069848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5840" y="4389119"/>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19" name="TextBox 18"/>
          <p:cNvSpPr txBox="1"/>
          <p:nvPr/>
        </p:nvSpPr>
        <p:spPr>
          <a:xfrm>
            <a:off x="1645920" y="4434839"/>
            <a:ext cx="5943600" cy="365760"/>
          </a:xfrm>
          <a:prstGeom prst="rect">
            <a:avLst/>
          </a:prstGeom>
          <a:noFill/>
        </p:spPr>
        <p:txBody>
          <a:bodyPr wrap="square" lIns="0" tIns="0" rIns="0" bIns="0">
            <a:spAutoFit/>
          </a:bodyPr>
          <a:lstStyle/>
          <a:p>
            <a:pPr>
              <a:defRPr sz="1300" b="1">
                <a:solidFill>
                  <a:srgbClr val="F8FAFC"/>
                </a:solidFill>
              </a:defRPr>
            </a:pPr>
            <a:r>
              <a:t>Model layer executes Drizzle ORM insert into PostgreSQL</a:t>
            </a:r>
          </a:p>
        </p:txBody>
      </p:sp>
      <p:sp>
        <p:nvSpPr>
          <p:cNvPr id="20" name="TextBox 19"/>
          <p:cNvSpPr txBox="1"/>
          <p:nvPr/>
        </p:nvSpPr>
        <p:spPr>
          <a:xfrm>
            <a:off x="7772400" y="4434839"/>
            <a:ext cx="3474720" cy="365760"/>
          </a:xfrm>
          <a:prstGeom prst="rect">
            <a:avLst/>
          </a:prstGeom>
          <a:noFill/>
        </p:spPr>
        <p:txBody>
          <a:bodyPr wrap="square" lIns="0" tIns="0" rIns="0" bIns="0">
            <a:spAutoFit/>
          </a:bodyPr>
          <a:lstStyle/>
          <a:p>
            <a:pPr algn="r">
              <a:defRPr sz="1100">
                <a:solidFill>
                  <a:srgbClr val="10B981"/>
                </a:solidFill>
                <a:latin typeface="Consolas"/>
              </a:defRPr>
            </a:pPr>
            <a:r>
              <a:t>MODEL → db.insert(places).values(...)</a:t>
            </a:r>
          </a:p>
        </p:txBody>
      </p:sp>
      <p:sp>
        <p:nvSpPr>
          <p:cNvPr id="21" name="Rounded Rectangle 20"/>
          <p:cNvSpPr/>
          <p:nvPr/>
        </p:nvSpPr>
        <p:spPr>
          <a:xfrm>
            <a:off x="731520" y="5120640"/>
            <a:ext cx="1069848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5257800"/>
            <a:ext cx="457200" cy="45720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23" name="TextBox 22"/>
          <p:cNvSpPr txBox="1"/>
          <p:nvPr/>
        </p:nvSpPr>
        <p:spPr>
          <a:xfrm>
            <a:off x="1645920" y="5303520"/>
            <a:ext cx="5943600" cy="365760"/>
          </a:xfrm>
          <a:prstGeom prst="rect">
            <a:avLst/>
          </a:prstGeom>
          <a:noFill/>
        </p:spPr>
        <p:txBody>
          <a:bodyPr wrap="square" lIns="0" tIns="0" rIns="0" bIns="0">
            <a:spAutoFit/>
          </a:bodyPr>
          <a:lstStyle/>
          <a:p>
            <a:pPr>
              <a:defRPr sz="1300" b="1">
                <a:solidFill>
                  <a:srgbClr val="F8FAFC"/>
                </a:solidFill>
              </a:defRPr>
            </a:pPr>
            <a:r>
              <a:t>Cache revalidated; SWR refetches; district glows emerald</a:t>
            </a:r>
          </a:p>
        </p:txBody>
      </p:sp>
      <p:sp>
        <p:nvSpPr>
          <p:cNvPr id="24" name="TextBox 23"/>
          <p:cNvSpPr txBox="1"/>
          <p:nvPr/>
        </p:nvSpPr>
        <p:spPr>
          <a:xfrm>
            <a:off x="7772400" y="5303520"/>
            <a:ext cx="3474720" cy="365760"/>
          </a:xfrm>
          <a:prstGeom prst="rect">
            <a:avLst/>
          </a:prstGeom>
          <a:noFill/>
        </p:spPr>
        <p:txBody>
          <a:bodyPr wrap="square" lIns="0" tIns="0" rIns="0" bIns="0">
            <a:spAutoFit/>
          </a:bodyPr>
          <a:lstStyle/>
          <a:p>
            <a:pPr algn="r">
              <a:defRPr sz="1100">
                <a:solidFill>
                  <a:srgbClr val="22C55E"/>
                </a:solidFill>
                <a:latin typeface="Consolas"/>
              </a:defRPr>
            </a:pPr>
            <a:r>
              <a:t>CONTROLLER → SWR → 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The Relational Database</a:t>
            </a:r>
          </a:p>
          <a:p>
            <a:pPr>
              <a:spcBef>
                <a:spcPts val="400"/>
              </a:spcBef>
              <a:defRPr sz="1300">
                <a:solidFill>
                  <a:srgbClr val="94A3B8"/>
                </a:solidFill>
                <a:latin typeface="Arial"/>
              </a:defRPr>
            </a:pPr>
            <a:r>
              <a:t>PostgreSQL stores district states and places across normalized tables with relational integrity.</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13</a:t>
            </a:r>
          </a:p>
        </p:txBody>
      </p:sp>
      <p:sp>
        <p:nvSpPr>
          <p:cNvPr id="5" name="Rounded Rectangle 4"/>
          <p:cNvSpPr/>
          <p:nvPr/>
        </p:nvSpPr>
        <p:spPr>
          <a:xfrm>
            <a:off x="731520" y="1645920"/>
            <a:ext cx="5303520" cy="39319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937760" cy="3566160"/>
          </a:xfrm>
          <a:prstGeom prst="rect">
            <a:avLst/>
          </a:prstGeom>
          <a:noFill/>
        </p:spPr>
        <p:txBody>
          <a:bodyPr wrap="square" lIns="0" tIns="0" rIns="0" bIns="0">
            <a:spAutoFit/>
          </a:bodyPr>
          <a:lstStyle/>
          <a:p>
            <a:pPr>
              <a:defRPr sz="1300" b="1">
                <a:solidFill>
                  <a:srgbClr val="22C55E"/>
                </a:solidFill>
              </a:defRPr>
            </a:pPr>
            <a:r>
              <a:t>district_statuses table</a:t>
            </a:r>
          </a:p>
          <a:p>
            <a:pPr>
              <a:spcBef>
                <a:spcPts val="400"/>
              </a:spcBef>
              <a:defRPr sz="1000">
                <a:solidFill>
                  <a:srgbClr val="F8FAFC"/>
                </a:solidFill>
                <a:latin typeface="Consolas"/>
              </a:defRPr>
            </a:pPr>
            <a:r>
              <a:t>district_id (TEXT, Primary Key)</a:t>
            </a:r>
            <a:br/>
            <a:r>
              <a:t>is_visited  (BOOLEAN, Default: false)</a:t>
            </a:r>
            <a:br/>
            <a:r>
              <a:t>general_notes (TEXT, Optional)</a:t>
            </a:r>
            <a:br/>
            <a:r>
              <a:t>photos      (TEXT JSON, Optional)</a:t>
            </a:r>
            <a:br/>
            <a:r>
              <a:t>updated_at  (TIMESTAMP, Default: NOW())</a:t>
            </a:r>
            <a:br/>
            <a:br/>
            <a:r>
              <a:t>places table</a:t>
            </a:r>
            <a:br/>
            <a:r>
              <a:t>id          (TEXT, Primary Key)</a:t>
            </a:r>
            <a:br/>
            <a:r>
              <a:t>district_id (TEXT, Foreign Key -&gt; district_statuses)</a:t>
            </a:r>
            <a:br/>
            <a:r>
              <a:t>name        (TEXT, Required)</a:t>
            </a:r>
            <a:br/>
            <a:r>
              <a:t>category    (TEXT, Mall/Temple/Cafe/Park/etc.)</a:t>
            </a:r>
            <a:br/>
            <a:r>
              <a:t>visited_date (TEXT, YYYY-MM-DD)</a:t>
            </a:r>
            <a:br/>
            <a:r>
              <a:t>notes       (TEXT, Optional)</a:t>
            </a:r>
          </a:p>
        </p:txBody>
      </p:sp>
      <p:sp>
        <p:nvSpPr>
          <p:cNvPr id="7" name="Rounded Rectangle 6"/>
          <p:cNvSpPr/>
          <p:nvPr/>
        </p:nvSpPr>
        <p:spPr>
          <a:xfrm>
            <a:off x="6309360" y="1645920"/>
            <a:ext cx="5120640" cy="3931920"/>
          </a:xfrm>
          <a:prstGeom prst="roundRect">
            <a:avLst/>
          </a:prstGeom>
          <a:solidFill>
            <a:srgbClr val="060B16"/>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754880" cy="3566160"/>
          </a:xfrm>
          <a:prstGeom prst="rect">
            <a:avLst/>
          </a:prstGeom>
          <a:noFill/>
        </p:spPr>
        <p:txBody>
          <a:bodyPr wrap="square" lIns="0" tIns="0" rIns="0" bIns="0">
            <a:spAutoFit/>
          </a:bodyPr>
          <a:lstStyle/>
          <a:p>
            <a:pPr>
              <a:defRPr sz="1000">
                <a:solidFill>
                  <a:srgbClr val="E2E8F0"/>
                </a:solidFill>
                <a:latin typeface="Consolas"/>
              </a:defRPr>
            </a:pPr>
            <a:r>
              <a:t>CREATE TABLE district_statuses (</a:t>
            </a:r>
            <a:br/>
            <a:r>
              <a:t>  district_id text PRIMARY KEY,</a:t>
            </a:r>
            <a:br/>
            <a:r>
              <a:t>  is_visited boolean NOT NULL DEFAULT false,</a:t>
            </a:r>
            <a:br/>
            <a:r>
              <a:t>  general_notes text,</a:t>
            </a:r>
            <a:br/>
            <a:r>
              <a:t>  updated_at timestamp NOT NULL DEFAULT NOW()</a:t>
            </a:r>
            <a:br/>
            <a:r>
              <a:t>);</a:t>
            </a:r>
            <a:br/>
            <a:br/>
            <a:r>
              <a:t>CREATE TABLE places (</a:t>
            </a:r>
            <a:br/>
            <a:r>
              <a:t>  id text PRIMARY KEY,</a:t>
            </a:r>
            <a:br/>
            <a:r>
              <a:t>  district_id text NOT NULL </a:t>
            </a:r>
            <a:br/>
            <a:r>
              <a:t>    REFERENCES district_statuses(district_id) </a:t>
            </a:r>
            <a:br/>
            <a:r>
              <a:t>    ON DELETE CASCADE,</a:t>
            </a:r>
            <a:br/>
            <a:r>
              <a:t>  name text NOT NULL,</a:t>
            </a:r>
            <a:br/>
            <a:r>
              <a:t>  category text NOT NULL DEFAULT 'Other',</a:t>
            </a:r>
            <a:br/>
            <a:r>
              <a:t>  visited_date text,</a:t>
            </a:r>
            <a:br/>
            <a:r>
              <a:t>  notes text</a:t>
            </a:r>
            <a:br/>
            <a:r>
              <a:t>);</a:t>
            </a:r>
          </a:p>
        </p:txBody>
      </p:sp>
      <p:sp>
        <p:nvSpPr>
          <p:cNvPr id="9" name="TextBox 8"/>
          <p:cNvSpPr txBox="1"/>
          <p:nvPr/>
        </p:nvSpPr>
        <p:spPr>
          <a:xfrm>
            <a:off x="731520" y="5760720"/>
            <a:ext cx="10698480" cy="457200"/>
          </a:xfrm>
          <a:prstGeom prst="rect">
            <a:avLst/>
          </a:prstGeom>
          <a:noFill/>
        </p:spPr>
        <p:txBody>
          <a:bodyPr wrap="none" lIns="0" tIns="0" rIns="0" bIns="0">
            <a:spAutoFit/>
          </a:bodyPr>
          <a:lstStyle/>
          <a:p>
            <a:pPr>
              <a:defRPr sz="1150" i="1">
                <a:solidFill>
                  <a:srgbClr val="94A3B8"/>
                </a:solidFill>
              </a:defRPr>
            </a:pPr>
            <a:r>
              <a:t>Try it yourself: Add a tags table with a many-to-many place_tags junction table. Update lib/storage.ts to support tag filtering.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Running the App in VS Code</a:t>
            </a:r>
          </a:p>
          <a:p>
            <a:pPr>
              <a:spcBef>
                <a:spcPts val="400"/>
              </a:spcBef>
              <a:defRPr sz="1300">
                <a:solidFill>
                  <a:srgbClr val="94A3B8"/>
                </a:solidFill>
                <a:latin typeface="Arial"/>
              </a:defRPr>
            </a:pPr>
            <a:r>
              <a:t>Get the full-stack Bangkok District Tracker development environment up and running in seconds.</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14</a:t>
            </a:r>
          </a:p>
        </p:txBody>
      </p:sp>
      <p:sp>
        <p:nvSpPr>
          <p:cNvPr id="5" name="Rounded Rectangle 4"/>
          <p:cNvSpPr/>
          <p:nvPr/>
        </p:nvSpPr>
        <p:spPr>
          <a:xfrm>
            <a:off x="731520" y="1645920"/>
            <a:ext cx="685800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81051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7" name="TextBox 6"/>
          <p:cNvSpPr txBox="1"/>
          <p:nvPr/>
        </p:nvSpPr>
        <p:spPr>
          <a:xfrm>
            <a:off x="1554480" y="1847088"/>
            <a:ext cx="5852160" cy="365760"/>
          </a:xfrm>
          <a:prstGeom prst="rect">
            <a:avLst/>
          </a:prstGeom>
          <a:noFill/>
        </p:spPr>
        <p:txBody>
          <a:bodyPr wrap="square" lIns="0" tIns="0" rIns="0" bIns="0">
            <a:spAutoFit/>
          </a:bodyPr>
          <a:lstStyle/>
          <a:p>
            <a:pPr>
              <a:defRPr sz="1200" b="1">
                <a:solidFill>
                  <a:srgbClr val="F8FAFC"/>
                </a:solidFill>
              </a:defRPr>
            </a:pPr>
            <a:r>
              <a:t>Open the bkkdmap / bangkok-district-tracker folder in VS Code</a:t>
            </a:r>
          </a:p>
        </p:txBody>
      </p:sp>
      <p:sp>
        <p:nvSpPr>
          <p:cNvPr id="8" name="Rounded Rectangle 7"/>
          <p:cNvSpPr/>
          <p:nvPr/>
        </p:nvSpPr>
        <p:spPr>
          <a:xfrm>
            <a:off x="731520" y="2514600"/>
            <a:ext cx="685800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7919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10" name="TextBox 9"/>
          <p:cNvSpPr txBox="1"/>
          <p:nvPr/>
        </p:nvSpPr>
        <p:spPr>
          <a:xfrm>
            <a:off x="1554480" y="2715768"/>
            <a:ext cx="5852160" cy="365760"/>
          </a:xfrm>
          <a:prstGeom prst="rect">
            <a:avLst/>
          </a:prstGeom>
          <a:noFill/>
        </p:spPr>
        <p:txBody>
          <a:bodyPr wrap="square" lIns="0" tIns="0" rIns="0" bIns="0">
            <a:spAutoFit/>
          </a:bodyPr>
          <a:lstStyle/>
          <a:p>
            <a:pPr>
              <a:defRPr sz="1200" b="1">
                <a:solidFill>
                  <a:srgbClr val="F8FAFC"/>
                </a:solidFill>
              </a:defRPr>
            </a:pPr>
            <a:r>
              <a:t>Open a terminal: Terminal → New Terminal</a:t>
            </a:r>
          </a:p>
        </p:txBody>
      </p:sp>
      <p:sp>
        <p:nvSpPr>
          <p:cNvPr id="11" name="Rounded Rectangle 10"/>
          <p:cNvSpPr/>
          <p:nvPr/>
        </p:nvSpPr>
        <p:spPr>
          <a:xfrm>
            <a:off x="731520" y="3383280"/>
            <a:ext cx="685800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354787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13" name="TextBox 12"/>
          <p:cNvSpPr txBox="1"/>
          <p:nvPr/>
        </p:nvSpPr>
        <p:spPr>
          <a:xfrm>
            <a:off x="1554480" y="3584448"/>
            <a:ext cx="5852160" cy="365760"/>
          </a:xfrm>
          <a:prstGeom prst="rect">
            <a:avLst/>
          </a:prstGeom>
          <a:noFill/>
        </p:spPr>
        <p:txBody>
          <a:bodyPr wrap="square" lIns="0" tIns="0" rIns="0" bIns="0">
            <a:spAutoFit/>
          </a:bodyPr>
          <a:lstStyle/>
          <a:p>
            <a:pPr>
              <a:defRPr sz="1200" b="1">
                <a:solidFill>
                  <a:srgbClr val="F8FAFC"/>
                </a:solidFill>
              </a:defRPr>
            </a:pPr>
            <a:r>
              <a:t>Install project dependencies: bun install (or npm install)</a:t>
            </a:r>
          </a:p>
        </p:txBody>
      </p:sp>
      <p:sp>
        <p:nvSpPr>
          <p:cNvPr id="14" name="Rounded Rectangle 13"/>
          <p:cNvSpPr/>
          <p:nvPr/>
        </p:nvSpPr>
        <p:spPr>
          <a:xfrm>
            <a:off x="731520" y="4251959"/>
            <a:ext cx="685800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4416551"/>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4</a:t>
            </a:r>
          </a:p>
        </p:txBody>
      </p:sp>
      <p:sp>
        <p:nvSpPr>
          <p:cNvPr id="16" name="TextBox 15"/>
          <p:cNvSpPr txBox="1"/>
          <p:nvPr/>
        </p:nvSpPr>
        <p:spPr>
          <a:xfrm>
            <a:off x="1554480" y="4453127"/>
            <a:ext cx="5852160" cy="365760"/>
          </a:xfrm>
          <a:prstGeom prst="rect">
            <a:avLst/>
          </a:prstGeom>
          <a:noFill/>
        </p:spPr>
        <p:txBody>
          <a:bodyPr wrap="square" lIns="0" tIns="0" rIns="0" bIns="0">
            <a:spAutoFit/>
          </a:bodyPr>
          <a:lstStyle/>
          <a:p>
            <a:pPr>
              <a:defRPr sz="1200" b="1">
                <a:solidFill>
                  <a:srgbClr val="F8FAFC"/>
                </a:solidFill>
              </a:defRPr>
            </a:pPr>
            <a:r>
              <a:t>Push database schema to Postgres: bun run db:push</a:t>
            </a:r>
          </a:p>
        </p:txBody>
      </p:sp>
      <p:sp>
        <p:nvSpPr>
          <p:cNvPr id="17" name="Rounded Rectangle 16"/>
          <p:cNvSpPr/>
          <p:nvPr/>
        </p:nvSpPr>
        <p:spPr>
          <a:xfrm>
            <a:off x="731520" y="5120640"/>
            <a:ext cx="6858000" cy="73152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528523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5</a:t>
            </a:r>
          </a:p>
        </p:txBody>
      </p:sp>
      <p:sp>
        <p:nvSpPr>
          <p:cNvPr id="19" name="TextBox 18"/>
          <p:cNvSpPr txBox="1"/>
          <p:nvPr/>
        </p:nvSpPr>
        <p:spPr>
          <a:xfrm>
            <a:off x="1554480" y="5321808"/>
            <a:ext cx="5852160" cy="365760"/>
          </a:xfrm>
          <a:prstGeom prst="rect">
            <a:avLst/>
          </a:prstGeom>
          <a:noFill/>
        </p:spPr>
        <p:txBody>
          <a:bodyPr wrap="square" lIns="0" tIns="0" rIns="0" bIns="0">
            <a:spAutoFit/>
          </a:bodyPr>
          <a:lstStyle/>
          <a:p>
            <a:pPr>
              <a:defRPr sz="1200" b="1">
                <a:solidFill>
                  <a:srgbClr val="F8FAFC"/>
                </a:solidFill>
              </a:defRPr>
            </a:pPr>
            <a:r>
              <a:t>Start development server: bun dev and open http://localhost:3000</a:t>
            </a:r>
          </a:p>
        </p:txBody>
      </p:sp>
      <p:sp>
        <p:nvSpPr>
          <p:cNvPr id="20" name="Rounded Rectangle 19"/>
          <p:cNvSpPr/>
          <p:nvPr/>
        </p:nvSpPr>
        <p:spPr>
          <a:xfrm>
            <a:off x="7863840" y="1645920"/>
            <a:ext cx="3566160" cy="4160520"/>
          </a:xfrm>
          <a:prstGeom prst="roundRect">
            <a:avLst/>
          </a:prstGeom>
          <a:solidFill>
            <a:srgbClr val="060B16"/>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1828800"/>
            <a:ext cx="3200400" cy="3749039"/>
          </a:xfrm>
          <a:prstGeom prst="rect">
            <a:avLst/>
          </a:prstGeom>
          <a:noFill/>
        </p:spPr>
        <p:txBody>
          <a:bodyPr wrap="square" lIns="0" tIns="0" rIns="0" bIns="0">
            <a:spAutoFit/>
          </a:bodyPr>
          <a:lstStyle/>
          <a:p>
            <a:pPr>
              <a:defRPr sz="1100">
                <a:solidFill>
                  <a:srgbClr val="22C55E"/>
                </a:solidFill>
                <a:latin typeface="Consolas"/>
              </a:defRPr>
            </a:pPr>
            <a:r>
              <a:t>$ bun install</a:t>
            </a:r>
            <a:br/>
            <a:r>
              <a:t>$ bun run db:push</a:t>
            </a:r>
            <a:br/>
            <a:r>
              <a:t>$ bun dev</a:t>
            </a:r>
            <a:br/>
            <a:br/>
            <a:r>
              <a:t>▲ Next.js 14.2.35</a:t>
            </a:r>
            <a:br/>
            <a:r>
              <a:t>- Local:   http://localhost:3000</a:t>
            </a:r>
            <a:br/>
            <a:r>
              <a:t>- Admin:   http://localhost:3000/admin</a:t>
            </a:r>
            <a:br/>
            <a:br/>
            <a:r>
              <a:t>✓ Ready in 850ms</a:t>
            </a:r>
            <a:br/>
            <a:r>
              <a:t>✓ Database connected</a:t>
            </a:r>
          </a:p>
        </p:txBody>
      </p:sp>
      <p:sp>
        <p:nvSpPr>
          <p:cNvPr id="22" name="TextBox 21"/>
          <p:cNvSpPr txBox="1"/>
          <p:nvPr/>
        </p:nvSpPr>
        <p:spPr>
          <a:xfrm>
            <a:off x="731520" y="5943600"/>
            <a:ext cx="10698480" cy="365760"/>
          </a:xfrm>
          <a:prstGeom prst="rect">
            <a:avLst/>
          </a:prstGeom>
          <a:noFill/>
        </p:spPr>
        <p:txBody>
          <a:bodyPr wrap="none" lIns="0" tIns="0" rIns="0" bIns="0">
            <a:spAutoFit/>
          </a:bodyPr>
          <a:lstStyle/>
          <a:p>
            <a:pPr>
              <a:defRPr sz="1050">
                <a:solidFill>
                  <a:srgbClr val="94A3B8"/>
                </a:solidFill>
              </a:defRPr>
            </a:pPr>
            <a:r>
              <a:t>Zero Setup Required: If no external database is configured, the app automatically falls back to local data/bangkok-tracker-state.json.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2600" b="1">
                <a:solidFill>
                  <a:srgbClr val="F8FAFC"/>
                </a:solidFill>
                <a:latin typeface="Arial"/>
              </a:defRPr>
            </a:pPr>
            <a:r>
              <a:t>Practice Exercises</a:t>
            </a:r>
          </a:p>
          <a:p>
            <a:pPr>
              <a:spcBef>
                <a:spcPts val="400"/>
              </a:spcBef>
              <a:defRPr sz="1300">
                <a:solidFill>
                  <a:srgbClr val="94A3B8"/>
                </a:solidFill>
                <a:latin typeface="Arial"/>
              </a:defRPr>
            </a:pPr>
            <a:r>
              <a:t>Extend the Bangkok District Tracker app to deepen your understanding of each architectural layer.</a:t>
            </a:r>
          </a:p>
        </p:txBody>
      </p:sp>
      <p:sp>
        <p:nvSpPr>
          <p:cNvPr id="3" name="TextBox 2"/>
          <p:cNvSpPr txBox="1"/>
          <p:nvPr/>
        </p:nvSpPr>
        <p:spPr>
          <a:xfrm>
            <a:off x="731520" y="6400800"/>
            <a:ext cx="10698480" cy="274320"/>
          </a:xfrm>
          <a:prstGeom prst="rect">
            <a:avLst/>
          </a:prstGeom>
          <a:noFill/>
        </p:spPr>
        <p:txBody>
          <a:bodyPr wrap="none" lIns="0" tIns="0" rIns="0" bIns="0">
            <a:spAutoFit/>
          </a:bodyPr>
          <a:lstStyle/>
          <a:p>
            <a:pPr>
              <a:defRPr sz="900">
                <a:solidFill>
                  <a:srgbClr val="94A3B8"/>
                </a:solidFill>
                <a:latin typeface="Arial"/>
              </a:defRPr>
            </a:pPr>
            <a:r>
              <a:t>Bangkok 50 Districts Tracker · Architecture Lecture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900">
                <a:solidFill>
                  <a:srgbClr val="94A3B8"/>
                </a:solidFill>
                <a:latin typeface="Arial"/>
              </a:defRPr>
            </a:pPr>
            <a:r>
              <a:t>15</a:t>
            </a:r>
          </a:p>
        </p:txBody>
      </p:sp>
      <p:sp>
        <p:nvSpPr>
          <p:cNvPr id="5" name="Rounded Rectangle 4"/>
          <p:cNvSpPr/>
          <p:nvPr/>
        </p:nvSpPr>
        <p:spPr>
          <a:xfrm>
            <a:off x="731520" y="1645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920240"/>
            <a:ext cx="228600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GIS Coordinate Pins</a:t>
            </a:r>
          </a:p>
        </p:txBody>
      </p:sp>
      <p:sp>
        <p:nvSpPr>
          <p:cNvPr id="7" name="TextBox 6"/>
          <p:cNvSpPr txBox="1"/>
          <p:nvPr/>
        </p:nvSpPr>
        <p:spPr>
          <a:xfrm>
            <a:off x="1005840" y="2468880"/>
            <a:ext cx="4663440" cy="1005840"/>
          </a:xfrm>
          <a:prstGeom prst="rect">
            <a:avLst/>
          </a:prstGeom>
          <a:noFill/>
        </p:spPr>
        <p:txBody>
          <a:bodyPr wrap="square" lIns="0" tIns="0" rIns="0" bIns="0">
            <a:spAutoFit/>
          </a:bodyPr>
          <a:lstStyle/>
          <a:p>
            <a:pPr>
              <a:defRPr sz="1200">
                <a:solidFill>
                  <a:srgbClr val="94A3B8"/>
                </a:solidFill>
              </a:defRPr>
            </a:pPr>
            <a:r>
              <a:t>Add latitude and longitude columns to places and render interactive pinpoint markers inside district SVG boundaries.</a:t>
            </a:r>
          </a:p>
        </p:txBody>
      </p:sp>
      <p:sp>
        <p:nvSpPr>
          <p:cNvPr id="8" name="Rounded Rectangle 7"/>
          <p:cNvSpPr/>
          <p:nvPr/>
        </p:nvSpPr>
        <p:spPr>
          <a:xfrm>
            <a:off x="6217920" y="1645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92240" y="1920240"/>
            <a:ext cx="2286000" cy="4114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Multi-User Passports</a:t>
            </a:r>
          </a:p>
        </p:txBody>
      </p:sp>
      <p:sp>
        <p:nvSpPr>
          <p:cNvPr id="10" name="TextBox 9"/>
          <p:cNvSpPr txBox="1"/>
          <p:nvPr/>
        </p:nvSpPr>
        <p:spPr>
          <a:xfrm>
            <a:off x="6492240" y="2468880"/>
            <a:ext cx="4663440" cy="1005840"/>
          </a:xfrm>
          <a:prstGeom prst="rect">
            <a:avLst/>
          </a:prstGeom>
          <a:noFill/>
        </p:spPr>
        <p:txBody>
          <a:bodyPr wrap="square" lIns="0" tIns="0" rIns="0" bIns="0">
            <a:spAutoFit/>
          </a:bodyPr>
          <a:lstStyle/>
          <a:p>
            <a:pPr>
              <a:defRPr sz="1200">
                <a:solidFill>
                  <a:srgbClr val="94A3B8"/>
                </a:solidFill>
              </a:defRPr>
            </a:pPr>
            <a:r>
              <a:t>Extend Model &amp; Controller layers from single-admin to multi-tenant user accounts with personal passport trackers.</a:t>
            </a:r>
          </a:p>
        </p:txBody>
      </p:sp>
      <p:sp>
        <p:nvSpPr>
          <p:cNvPr id="11" name="Rounded Rectangle 10"/>
          <p:cNvSpPr/>
          <p:nvPr/>
        </p:nvSpPr>
        <p:spPr>
          <a:xfrm>
            <a:off x="731520" y="3931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4206240"/>
            <a:ext cx="2286000" cy="41148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Faceted Category Search</a:t>
            </a:r>
          </a:p>
        </p:txBody>
      </p:sp>
      <p:sp>
        <p:nvSpPr>
          <p:cNvPr id="13" name="TextBox 12"/>
          <p:cNvSpPr txBox="1"/>
          <p:nvPr/>
        </p:nvSpPr>
        <p:spPr>
          <a:xfrm>
            <a:off x="1005840" y="4754880"/>
            <a:ext cx="4663440" cy="1005840"/>
          </a:xfrm>
          <a:prstGeom prst="rect">
            <a:avLst/>
          </a:prstGeom>
          <a:noFill/>
        </p:spPr>
        <p:txBody>
          <a:bodyPr wrap="square" lIns="0" tIns="0" rIns="0" bIns="0">
            <a:spAutoFit/>
          </a:bodyPr>
          <a:lstStyle/>
          <a:p>
            <a:pPr>
              <a:defRPr sz="1200">
                <a:solidFill>
                  <a:srgbClr val="94A3B8"/>
                </a:solidFill>
              </a:defRPr>
            </a:pPr>
            <a:r>
              <a:t>Implement dynamic SQL filtering (GET /api/districts?category=Cafe&amp;zone=Thonburi) in Drizzle ORM.</a:t>
            </a:r>
          </a:p>
        </p:txBody>
      </p:sp>
      <p:sp>
        <p:nvSpPr>
          <p:cNvPr id="14" name="Rounded Rectangle 13"/>
          <p:cNvSpPr/>
          <p:nvPr/>
        </p:nvSpPr>
        <p:spPr>
          <a:xfrm>
            <a:off x="6217920" y="3931920"/>
            <a:ext cx="5212080" cy="2011680"/>
          </a:xfrm>
          <a:prstGeom prst="roundRect">
            <a:avLst/>
          </a:prstGeom>
          <a:solidFill>
            <a:srgbClr val="121C30"/>
          </a:solidFill>
          <a:ln w="12700">
            <a:solidFill>
              <a:srgbClr val="1E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92240" y="4206240"/>
            <a:ext cx="2286000"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Cloud Image Storage</a:t>
            </a:r>
          </a:p>
        </p:txBody>
      </p:sp>
      <p:sp>
        <p:nvSpPr>
          <p:cNvPr id="16" name="TextBox 15"/>
          <p:cNvSpPr txBox="1"/>
          <p:nvPr/>
        </p:nvSpPr>
        <p:spPr>
          <a:xfrm>
            <a:off x="6492240" y="4754880"/>
            <a:ext cx="4663440" cy="1005840"/>
          </a:xfrm>
          <a:prstGeom prst="rect">
            <a:avLst/>
          </a:prstGeom>
          <a:noFill/>
        </p:spPr>
        <p:txBody>
          <a:bodyPr wrap="square" lIns="0" tIns="0" rIns="0" bIns="0">
            <a:spAutoFit/>
          </a:bodyPr>
          <a:lstStyle/>
          <a:p>
            <a:pPr>
              <a:defRPr sz="1200">
                <a:solidFill>
                  <a:srgbClr val="94A3B8"/>
                </a:solidFill>
              </a:defRPr>
            </a:pPr>
            <a:r>
              <a:t>Integrate AWS S3 or Cloudflare R2 storage in app/api/upload to support high-res photo albums per place.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731520" y="1097280"/>
            <a:ext cx="822960" cy="8229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a:t>
            </a:r>
          </a:p>
        </p:txBody>
      </p:sp>
      <p:sp>
        <p:nvSpPr>
          <p:cNvPr id="3" name="TextBox 2"/>
          <p:cNvSpPr txBox="1"/>
          <p:nvPr/>
        </p:nvSpPr>
        <p:spPr>
          <a:xfrm>
            <a:off x="731520" y="2103120"/>
            <a:ext cx="10698480" cy="731520"/>
          </a:xfrm>
          <a:prstGeom prst="rect">
            <a:avLst/>
          </a:prstGeom>
          <a:noFill/>
        </p:spPr>
        <p:txBody>
          <a:bodyPr wrap="none" lIns="0" tIns="0" rIns="0" bIns="0">
            <a:spAutoFit/>
          </a:bodyPr>
          <a:lstStyle/>
          <a:p>
            <a:pPr>
              <a:defRPr sz="3200" b="1">
                <a:solidFill>
                  <a:srgbClr val="F8FAFC"/>
                </a:solidFill>
              </a:defRPr>
            </a:pPr>
            <a:r>
              <a:t>Summary</a:t>
            </a:r>
          </a:p>
        </p:txBody>
      </p:sp>
      <p:sp>
        <p:nvSpPr>
          <p:cNvPr id="4" name="TextBox 3"/>
          <p:cNvSpPr txBox="1"/>
          <p:nvPr/>
        </p:nvSpPr>
        <p:spPr>
          <a:xfrm>
            <a:off x="731520" y="2926080"/>
            <a:ext cx="10698480" cy="2194560"/>
          </a:xfrm>
          <a:prstGeom prst="rect">
            <a:avLst/>
          </a:prstGeom>
          <a:noFill/>
        </p:spPr>
        <p:txBody>
          <a:bodyPr wrap="square" lIns="0" tIns="0" rIns="0" bIns="0">
            <a:spAutoFit/>
          </a:bodyPr>
          <a:lstStyle/>
          <a:p>
            <a:pPr>
              <a:spcBef>
                <a:spcPts val="1000"/>
              </a:spcBef>
              <a:defRPr sz="1400">
                <a:solidFill>
                  <a:srgbClr val="F8FAFC"/>
                </a:solidFill>
              </a:defRPr>
            </a:pPr>
            <a:r>
              <a:t>• Full-Stack MVC separates an application into Model (data), View (display), and Controller (flow &amp; security).</a:t>
            </a:r>
          </a:p>
          <a:p>
            <a:pPr>
              <a:spcBef>
                <a:spcPts val="1000"/>
              </a:spcBef>
              <a:defRPr sz="1400">
                <a:solidFill>
                  <a:srgbClr val="F8FAFC"/>
                </a:solidFill>
              </a:defRPr>
            </a:pPr>
            <a:r>
              <a:t>• The Controller is the single coordinator that manages validation, auth guards, and cache revalidation.</a:t>
            </a:r>
          </a:p>
          <a:p>
            <a:pPr>
              <a:spcBef>
                <a:spcPts val="1000"/>
              </a:spcBef>
              <a:defRPr sz="1400">
                <a:solidFill>
                  <a:srgbClr val="F8FAFC"/>
                </a:solidFill>
              </a:defRPr>
            </a:pPr>
            <a:r>
              <a:t>• Relational databases enforce data integrity via schemas, foreign keys, and cascading relationships.</a:t>
            </a:r>
          </a:p>
          <a:p>
            <a:pPr>
              <a:spcBef>
                <a:spcPts val="1000"/>
              </a:spcBef>
              <a:defRPr sz="1400">
                <a:solidFill>
                  <a:srgbClr val="F8FAFC"/>
                </a:solidFill>
              </a:defRPr>
            </a:pPr>
            <a:r>
              <a:t>• The same architectural principles scale from small tracker apps to enterprise geospatial platforms.</a:t>
            </a:r>
          </a:p>
        </p:txBody>
      </p:sp>
      <p:sp>
        <p:nvSpPr>
          <p:cNvPr id="5" name="TextBox 4"/>
          <p:cNvSpPr txBox="1"/>
          <p:nvPr/>
        </p:nvSpPr>
        <p:spPr>
          <a:xfrm>
            <a:off x="731520" y="5303520"/>
            <a:ext cx="10698480" cy="914400"/>
          </a:xfrm>
          <a:prstGeom prst="rect">
            <a:avLst/>
          </a:prstGeom>
          <a:noFill/>
        </p:spPr>
        <p:txBody>
          <a:bodyPr wrap="square" lIns="0" tIns="0" rIns="0" bIns="0">
            <a:spAutoFit/>
          </a:bodyPr>
          <a:lstStyle/>
          <a:p>
            <a:pPr>
              <a:defRPr sz="2000" b="1">
                <a:solidFill>
                  <a:srgbClr val="22C55E"/>
                </a:solidFill>
              </a:defRPr>
            </a:pPr>
            <a:r>
              <a:t>Questions?</a:t>
            </a:r>
          </a:p>
          <a:p>
            <a:pPr>
              <a:spcBef>
                <a:spcPts val="400"/>
              </a:spcBef>
              <a:defRPr sz="1200">
                <a:solidFill>
                  <a:srgbClr val="94A3B8"/>
                </a:solidFill>
              </a:defRPr>
            </a:pPr>
            <a:r>
              <a:t>Project repository: bangkok-district-tracker • README.md has full setup, API docs &amp; schema details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